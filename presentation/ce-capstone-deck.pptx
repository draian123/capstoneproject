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ce-capstone — a multi-AZ, load-balanced, monitored AWS platform, built entirely in Terraform.</a:t>
            </a:r>
          </a:p>
          <a:p/>
          <a:p>
            <a:r>
              <a:t>The subtitle is the interesting part, and it is not a joke. The single most important design constraint in this project was that the whole thing has to be destroyable and rebuildable in about six minutes.</a:t>
            </a:r>
          </a:p>
          <a:p/>
          <a:p>
            <a:r>
              <a:t>I will explain in a moment why that constraint ended up driving more architecture decisions than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six parts.</a:t>
            </a:r>
          </a:p>
          <a:p/>
          <a:p>
            <a:r>
              <a:t>I want to flag part four up front, because it is the part I would most want you to judge the project on. I made a resilience claim, measured it, found it was wrong, and had to correct it. That section is the honest centre of this talk.</a:t>
            </a:r>
          </a:p>
          <a:p/>
          <a:p>
            <a:r>
              <a:t>I will keep parts one through three brisk so there is room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origin of this project is a cost problem, not an architecture problem.</a:t>
            </a:r>
          </a:p>
          <a:p/>
          <a:p>
            <a:r>
              <a:t>I wanted something production-shaped for my portfolio. But a NAT Gateway alone bills about 32 dollars a month whether or not a single packet goes through it. Add a load balancer and three instances and you are at 71 dollars a month for something nobody is using at three in the morning.</a:t>
            </a:r>
          </a:p>
          <a:p/>
          <a:p>
            <a:r>
              <a:t>I could have made it cheaper by making it less real — one AZ, no load balancer, a public instance. That defeats the point.</a:t>
            </a:r>
          </a:p>
          <a:p/>
          <a:p>
            <a:r>
              <a:t>So I inverted it. Instead of treating teardown as something you do at the end, I made teardown and rebuild a first-class operation the platform has to support well. That is the brief on screen.</a:t>
            </a:r>
          </a:p>
          <a:p/>
          <a:p>
            <a:r>
              <a:t>Watch how many later decisions fall out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shape. Public subnets across two availability zones hold only the load balancer. Private subnets hold three ARM instances in an Auto Scaling group. The catalog lives in DynamoDB.</a:t>
            </a:r>
          </a:p>
          <a:p/>
          <a:p>
            <a:r>
              <a:t>Two things worth pointing at.</a:t>
            </a:r>
          </a:p>
          <a:p/>
          <a:p>
            <a:r>
              <a:t>First, the application is deliberately trivial — a few hundred lines of Node with zero npm dependencies. That is on purpose. Every dependency is something that has to be downloaded through the NAT Gateway while an instance boots, and one more way for an instance to join the target group unhealthy. The infrastructure is the project; the app exists to make the infrastructure observable.</a:t>
            </a:r>
          </a:p>
          <a:p/>
          <a:p>
            <a:r>
              <a:t>Second, DynamoDB is reached through a VPC gateway endpoint, so catalog traffic never touches the NAT Gateway. That is a routing decision that is also a cost decision — gateway endpoints are free, NAT data processing is not.</a:t>
            </a:r>
          </a:p>
          <a:p/>
          <a:p>
            <a:r>
              <a:t>Four modules, 77 resources, about six minutes from nothing to serving traffic.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make one point about isolation here, because it is easy to say 'three tiers' and mean nothing by it.</a:t>
            </a:r>
          </a:p>
          <a:p/>
          <a:p>
            <a:r>
              <a:t>Each tier is isolated by a different mechanism, chosen for that tier. The edge is isolated by a security group. The application tier is isolated by routing — there is no route from the internet to those subnets, so a security group misconfiguration there is not catastrophic. And the data tier is not in a subnet at all; it is isolated by IAM, scoped to five read-only actions on one table ARN.</a:t>
            </a:r>
          </a:p>
          <a:p/>
          <a:p>
            <a:r>
              <a:t>Two details I am proud of.</a:t>
            </a:r>
          </a:p>
          <a:p/>
          <a:p>
            <a:r>
              <a:t>The security groups reference each other rather than CIDR blocks. The app tier's rule says 'accept from the ALB's security group'. That stays true if the ALB gets new addresses, which it does.</a:t>
            </a:r>
          </a:p>
          <a:p/>
          <a:p>
            <a:r>
              <a:t>And the load balancer's outbound rules are restricted to the app tier. Most people only ever write ingress rules. If the ALB were compromised, it still could not reach anything else in the VPC.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Storefront already open.]</a:t>
            </a:r>
          </a:p>
          <a:p/>
          <a:p>
            <a:r>
              <a:t>This is the storefront. The cards at the top say which instance and which availability zone rendered this page.</a:t>
            </a:r>
          </a:p>
          <a:p/>
          <a:p>
            <a:r>
              <a:t>[Press Start.]</a:t>
            </a:r>
          </a:p>
          <a:p/>
          <a:p>
            <a:r>
              <a:t>That button asks the API three times a second and tallies who answers. Watch the counters: requests climbing, three instances, two zones, zero failed. Those bars are the load balancer distributing traffic — roughly a third each. This is not a diagram of load balancing, it is load balancing.</a:t>
            </a:r>
          </a:p>
          <a:p/>
          <a:p>
            <a:r>
              <a:t>[Leave it running. Switch to terminal, run scripts/demo-failover.sh dev.]</a:t>
            </a:r>
          </a:p>
          <a:p/>
          <a:p>
            <a:r>
              <a:t>Now I am terminating one of those instances outright — not a graceful scale-in, a hard kill.</a:t>
            </a:r>
          </a:p>
          <a:p/>
          <a:p>
            <a:r>
              <a:t>[Back to the browser. Narrate as it happens.]</a:t>
            </a:r>
          </a:p>
          <a:p/>
          <a:p>
            <a:r>
              <a:t>Watch that bar stop growing... it greys out and says 'no longer answering'... the failed counter ticks up — and there it is, a new instance ID appearing as the Auto Scaling group replaces it.</a:t>
            </a:r>
          </a:p>
          <a:p/>
          <a:p>
            <a:r>
              <a:t>Notice the failure count. It is small, but it is not zero. Hold on to that number, because the next section of this talk is entirely about it.</a:t>
            </a:r>
          </a:p>
          <a:p/>
          <a:p>
            <a:r>
              <a:t>[If time is short: skip beat 4, go straight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In my first draft of the README, I wrote that this platform delivers zero-downtime instance failure. It sounded right. Every component was configured correctly.</a:t>
            </a:r>
          </a:p>
          <a:p/>
          <a:p>
            <a:r>
              <a:t>Then I wrote a script that terminates an instance and probes the health endpoint once per second throughout, and I ran it.</a:t>
            </a:r>
          </a:p>
          <a:p/>
          <a:p>
            <a:r>
              <a:t>The Auto Scaling group did exactly what it was supposed to. And six requests returned 502 while it happened.</a:t>
            </a:r>
          </a:p>
          <a:p/>
          <a:p>
            <a:r>
              <a:t>The reason is simple once you see it. A load balancer cannot route away from a dead target until its health checks notice it is dead. Until that moment it keeps confidently sending traffic to a machine that no longer exists.</a:t>
            </a:r>
          </a:p>
          <a:p/>
          <a:p>
            <a:r>
              <a:t>So the error window is not a mystery. It is arithmetic: the health check interval times the unhealthy threshold. Mine was 15 seconds times 3 — up to 45 seconds of serving errors.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where it gets interesting, and this is the slide I would most like a question about.</a:t>
            </a:r>
          </a:p>
          <a:p/>
          <a:p>
            <a:r>
              <a:t>I did not tune once. I measured three times.</a:t>
            </a:r>
          </a:p>
          <a:p/>
          <a:p>
            <a:r>
              <a:t>First row is where I started: 45-second theoretical window, six failed requests.</a:t>
            </a:r>
          </a:p>
          <a:p/>
          <a:p>
            <a:r>
              <a:t>Second row, I halved the window to 20 seconds. And the failures went from six to five. One request.</a:t>
            </a:r>
          </a:p>
          <a:p/>
          <a:p>
            <a:r>
              <a:t>That result is the most useful thing I learned in this project. If the window were a prediction, halving it should have roughly halved the failures. It did not — which told me the window is an upper bound, and the real failure count depends on where the request happens to land in the check cycle.</a:t>
            </a:r>
          </a:p>
          <a:p/>
          <a:p>
            <a:r>
              <a:t>Once I understood that, the decision changed. There is no clever middle number to find. You push to the floor the ALB allows — five seconds, threshold of two — and you take the two failed requests.</a:t>
            </a:r>
          </a:p>
          <a:p/>
          <a:p>
            <a:r>
              <a:t>Recovery time improved as a side effect, from 171 to 99 seconds, because detection gates replacement.</a:t>
            </a:r>
          </a:p>
          <a:p/>
          <a:p>
            <a:r>
              <a:t>And then I had to correct the claim itself. Zero-downtime deployment is true — connection draining handles that. Zero-downtime instance failure is not, and cannot be. The load balancer has to find out.</a:t>
            </a:r>
          </a:p>
          <a:p/>
          <a:p>
            <a:r>
              <a:t>The second version is less impressive. It is also the one that survives being asked 'how do you know?'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on the pipeline, because two decisions here are non-obvious.</a:t>
            </a:r>
          </a:p>
          <a:p/>
          <a:p>
            <a:r>
              <a:t>The policies are evaluated against the plan JSON, not the Terraform source. That matters: the plan has variables resolved, modules expanded, default tags merged. A policy that reads source code can be defeated by someone passing a variable. One that reads the plan cannot.</a:t>
            </a:r>
          </a:p>
          <a:p/>
          <a:p>
            <a:r>
              <a:t>And I unit-test the policies. Twenty-six tests. A rule that silently stopped matching would otherwise wave every plan through and nobody would notice.</a:t>
            </a:r>
          </a:p>
          <a:p/>
          <a:p>
            <a:r>
              <a:t>The two guards at the bottom are there because the default behaviour was wrong for this platform specifically.</a:t>
            </a:r>
          </a:p>
          <a:p/>
          <a:p>
            <a:r>
              <a:t>Normally you want a merge to main to deploy. Here, if the environment is torn down, deploying it would silently undo my entire cost control. So apply updates a running environment, and only an explicit manual dispatch may create one from nothing.</a:t>
            </a:r>
          </a:p>
          <a:p/>
          <a:p>
            <a:r>
              <a:t>Same logic for drift detection. For this platform, 'zero resources' is the resting state. Without a check for that, it would open a false drift issue every single morning — and an issue tracker full of false alarms is one nobody reads.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quickly — the theme is removing capabilities rather than guarding them.</a:t>
            </a:r>
          </a:p>
          <a:p/>
          <a:p>
            <a:r>
              <a:t>There are no AWS access keys anywhere in this repository. CI authenticates with OIDC, exchanging a GitHub-signed token for temporary credentials. EC2 uses an instance profile.</a:t>
            </a:r>
          </a:p>
          <a:p/>
          <a:p>
            <a:r>
              <a:t>There is no SSH. No key pair, no port 22, no bastion host. Access is Session Manager only. You cannot misconfigure a door that does not exist.</a:t>
            </a:r>
          </a:p>
          <a:p/>
          <a:p>
            <a:r>
              <a:t>And IMDSv2 is required with a hop limit of one, which closes the server-side request forgery path that turns an application bug into stolen instance credentials.</a:t>
            </a:r>
          </a:p>
          <a:p/>
          <a:p>
            <a:r>
              <a:t>The bottom half is the part I would actually like to discuss. Checkov flagged that my SNS topic is unencrypted. I did not fix it — and it is documented why.</a:t>
            </a:r>
          </a:p>
          <a:p/>
          <a:p>
            <a:r>
              <a:t>Encrypting it with the AWS-managed key would have made the scanner green, and silently broken alarm delivery, because CloudWatch cannot publish through that key. I would have traded a real alerting path for a green checkmark.</a:t>
            </a:r>
          </a:p>
          <a:p/>
          <a:p>
            <a:r>
              <a:t>A control that breaks the thing it is protecting is not a control.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sets of results.</a:t>
            </a:r>
          </a:p>
          <a:p/>
          <a:p>
            <a:r>
              <a:t>Cost on the left. Built the obvious way — two NAT Gateways, always on — this is about 127 dollars a month. As designed but left running, 71. As actually used, with teardown between sessions, 13 dollars a month. That is a 90 percent reduction.</a:t>
            </a:r>
          </a:p>
          <a:p/>
          <a:p>
            <a:r>
              <a:t>The biggest lever by far was simply not running it when nobody is using it — that alone is 82 percent. Second was one shared NAT Gateway instead of one per zone, which is another 33 dollars.</a:t>
            </a:r>
          </a:p>
          <a:p/>
          <a:p>
            <a:r>
              <a:t>The number that genuinely surprised me: the NAT Gateway and the load balancer together cost 49 dollars. The three instances doing the actual work cost 18. The plumbing is nearly three times the workload. I would not have guessed that, and it changed where I spent my optimisation effort.</a:t>
            </a:r>
          </a:p>
          <a:p/>
          <a:p>
            <a:r>
              <a:t>On the right, verification. Nothing on this list is a claim about what the code should do — each one was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I would do differently, and they are all process rather than architecture.</a:t>
            </a:r>
          </a:p>
          <a:p/>
          <a:p>
            <a:r>
              <a:t>Measure before documenting. I have already shown you the worst example. I wrote the claim, then tested it, then had to correct it.</a:t>
            </a:r>
          </a:p>
          <a:p/>
          <a:p>
            <a:r>
              <a:t>Scanners on day one. Retrofitting 33 justified suppressions at the end was tedious, and worse, they arrived too late to influence any decision.</a:t>
            </a:r>
          </a:p>
          <a:p/>
          <a:p>
            <a:r>
              <a:t>Monitoring must not share the lifecycle of the thing it monitors. I put the alert topic inside the environment. Every teardown killed the subscription, so every rebuild needed the alert channel re-armed by hand. It is now in a bootstrap layer that survives teardown.</a:t>
            </a:r>
          </a:p>
          <a:p/>
          <a:p>
            <a:r>
              <a:t>And the last one is from this week. The application ships embedded in EC2 user data, which AWS caps at 16 kilobytes. I added a feature and the deploy failed with a 400 from the EC2 API — pointing at a launch template, not at the file that had actually grown. I fixed the size, but the more useful fix was a Terraform precondition that now fails at plan time and names the file. A hard limit you cannot see is a hard limit you will hit during a demo.</a:t>
            </a:r>
          </a:p>
          <a:p/>
          <a:p>
            <a:r>
              <a:t>That is the project.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2212848"/>
            <a:ext cx="274320" cy="192024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148840"/>
            <a:ext cx="10874959" cy="914400"/>
          </a:xfrm>
          <a:prstGeom prst="rect">
            <a:avLst/>
          </a:prstGeom>
          <a:noFill/>
        </p:spPr>
        <p:txBody>
          <a:bodyPr wrap="square" anchor="t" lIns="0" rIns="0" tIns="0" bIns="0">
            <a:spAutoFit/>
          </a:bodyPr>
          <a:lstStyle/>
          <a:p>
            <a:pPr algn="l">
              <a:spcBef>
                <a:spcPts val="0"/>
              </a:spcBef>
              <a:spcAft>
                <a:spcPts val="0"/>
              </a:spcAft>
            </a:pPr>
            <a:r>
              <a:rPr sz="6000" b="1" i="0">
                <a:solidFill>
                  <a:srgbClr val="E6EDF3"/>
                </a:solidFill>
                <a:latin typeface="Arial"/>
              </a:rPr>
              <a:t>ce-capstone</a:t>
            </a:r>
          </a:p>
        </p:txBody>
      </p:sp>
      <p:sp>
        <p:nvSpPr>
          <p:cNvPr id="4" name="TextBox 3"/>
          <p:cNvSpPr txBox="1"/>
          <p:nvPr/>
        </p:nvSpPr>
        <p:spPr>
          <a:xfrm>
            <a:off x="658368" y="3044952"/>
            <a:ext cx="9601200" cy="640080"/>
          </a:xfrm>
          <a:prstGeom prst="rect">
            <a:avLst/>
          </a:prstGeom>
          <a:noFill/>
        </p:spPr>
        <p:txBody>
          <a:bodyPr wrap="square" anchor="t" lIns="0" rIns="0" tIns="0" bIns="0">
            <a:spAutoFit/>
          </a:bodyPr>
          <a:lstStyle/>
          <a:p>
            <a:pPr algn="l">
              <a:spcBef>
                <a:spcPts val="0"/>
              </a:spcBef>
              <a:spcAft>
                <a:spcPts val="0"/>
              </a:spcAft>
            </a:pPr>
            <a:r>
              <a:rPr sz="2500" b="0" i="0">
                <a:solidFill>
                  <a:srgbClr val="58A6FF"/>
                </a:solidFill>
                <a:latin typeface="Arial"/>
              </a:rPr>
              <a:t>A production-grade AWS platform that deletes itself</a:t>
            </a:r>
          </a:p>
        </p:txBody>
      </p:sp>
      <p:sp>
        <p:nvSpPr>
          <p:cNvPr id="5" name="TextBox 4"/>
          <p:cNvSpPr txBox="1"/>
          <p:nvPr/>
        </p:nvSpPr>
        <p:spPr>
          <a:xfrm>
            <a:off x="658368" y="4224528"/>
            <a:ext cx="9601200" cy="822960"/>
          </a:xfrm>
          <a:prstGeom prst="rect">
            <a:avLst/>
          </a:prstGeom>
          <a:noFill/>
        </p:spPr>
        <p:txBody>
          <a:bodyPr wrap="square" anchor="t" lIns="0" rIns="0" tIns="0" bIns="0">
            <a:spAutoFit/>
          </a:bodyPr>
          <a:lstStyle/>
          <a:p>
            <a:pPr algn="l">
              <a:spcBef>
                <a:spcPts val="0"/>
              </a:spcBef>
              <a:spcAft>
                <a:spcPts val="700"/>
              </a:spcAft>
            </a:pPr>
            <a:r>
              <a:rPr sz="1500" b="0" i="0">
                <a:solidFill>
                  <a:srgbClr val="8B949E"/>
                </a:solidFill>
                <a:latin typeface="Arial"/>
              </a:rPr>
              <a:t>Dennis Beitel  ·  Ironhack Cloud Engineering  ·  Week 9</a:t>
            </a:r>
          </a:p>
          <a:p>
            <a:pPr algn="l">
              <a:spcBef>
                <a:spcPts val="0"/>
              </a:spcBef>
              <a:spcAft>
                <a:spcPts val="600"/>
              </a:spcAft>
            </a:pPr>
            <a:r>
              <a:rPr sz="1500" b="0" i="0">
                <a:solidFill>
                  <a:srgbClr val="8B949E"/>
                </a:solidFill>
                <a:latin typeface="Arial"/>
              </a:rPr>
              <a:t>github.com/Draian123/CapstoneProject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What I'll cover</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2 / 12</a:t>
            </a:r>
          </a:p>
        </p:txBody>
      </p:sp>
      <p:sp>
        <p:nvSpPr>
          <p:cNvPr id="5" name="Rectangle 4"/>
          <p:cNvSpPr/>
          <p:nvPr/>
        </p:nvSpPr>
        <p:spPr>
          <a:xfrm>
            <a:off x="658368" y="1709928"/>
            <a:ext cx="420624" cy="420624"/>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64792"/>
            <a:ext cx="420624" cy="365760"/>
          </a:xfrm>
          <a:prstGeom prst="rect">
            <a:avLst/>
          </a:prstGeom>
          <a:noFill/>
        </p:spPr>
        <p:txBody>
          <a:bodyPr wrap="square" anchor="t" lIns="0" rIns="0" tIns="0" bIns="0">
            <a:spAutoFit/>
          </a:bodyPr>
          <a:lstStyle/>
          <a:p>
            <a:pPr algn="ctr">
              <a:spcBef>
                <a:spcPts val="0"/>
              </a:spcBef>
              <a:spcAft>
                <a:spcPts val="0"/>
              </a:spcAft>
            </a:pPr>
            <a:r>
              <a:rPr sz="1600" b="1" i="0">
                <a:solidFill>
                  <a:srgbClr val="58A6FF"/>
                </a:solidFill>
                <a:latin typeface="Arial"/>
              </a:rPr>
              <a:t>1</a:t>
            </a:r>
          </a:p>
        </p:txBody>
      </p:sp>
      <p:sp>
        <p:nvSpPr>
          <p:cNvPr id="7" name="TextBox 6"/>
          <p:cNvSpPr txBox="1"/>
          <p:nvPr/>
        </p:nvSpPr>
        <p:spPr>
          <a:xfrm>
            <a:off x="1371600" y="1755648"/>
            <a:ext cx="7863840" cy="411480"/>
          </a:xfrm>
          <a:prstGeom prst="rect">
            <a:avLst/>
          </a:prstGeom>
          <a:noFill/>
        </p:spPr>
        <p:txBody>
          <a:bodyPr wrap="square" anchor="t" lIns="0" rIns="0" tIns="0" bIns="0">
            <a:spAutoFit/>
          </a:bodyPr>
          <a:lstStyle/>
          <a:p>
            <a:pPr algn="l">
              <a:spcBef>
                <a:spcPts val="0"/>
              </a:spcBef>
              <a:spcAft>
                <a:spcPts val="0"/>
              </a:spcAft>
            </a:pPr>
            <a:r>
              <a:rPr sz="1900" b="0" i="0">
                <a:solidFill>
                  <a:srgbClr val="E6EDF3"/>
                </a:solidFill>
                <a:latin typeface="Arial"/>
              </a:rPr>
              <a:t>The constraint that shaped everything</a:t>
            </a:r>
          </a:p>
        </p:txBody>
      </p:sp>
      <p:sp>
        <p:nvSpPr>
          <p:cNvPr id="8" name="TextBox 7"/>
          <p:cNvSpPr txBox="1"/>
          <p:nvPr/>
        </p:nvSpPr>
        <p:spPr>
          <a:xfrm>
            <a:off x="9887407" y="1801368"/>
            <a:ext cx="1645920" cy="365760"/>
          </a:xfrm>
          <a:prstGeom prst="rect">
            <a:avLst/>
          </a:prstGeom>
          <a:noFill/>
        </p:spPr>
        <p:txBody>
          <a:bodyPr wrap="square" anchor="t" lIns="0" rIns="0" tIns="0" bIns="0">
            <a:spAutoFit/>
          </a:bodyPr>
          <a:lstStyle/>
          <a:p>
            <a:pPr algn="r">
              <a:spcBef>
                <a:spcPts val="0"/>
              </a:spcBef>
              <a:spcAft>
                <a:spcPts val="0"/>
              </a:spcAft>
            </a:pPr>
            <a:r>
              <a:rPr sz="1300" b="0" i="0">
                <a:solidFill>
                  <a:srgbClr val="8B949E"/>
                </a:solidFill>
                <a:latin typeface="Arial"/>
              </a:rPr>
              <a:t>~1 min</a:t>
            </a:r>
          </a:p>
        </p:txBody>
      </p:sp>
      <p:sp>
        <p:nvSpPr>
          <p:cNvPr id="9" name="Rectangle 8"/>
          <p:cNvSpPr/>
          <p:nvPr/>
        </p:nvSpPr>
        <p:spPr>
          <a:xfrm>
            <a:off x="658368" y="2322576"/>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441448"/>
            <a:ext cx="420624" cy="420624"/>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496312"/>
            <a:ext cx="420624" cy="365760"/>
          </a:xfrm>
          <a:prstGeom prst="rect">
            <a:avLst/>
          </a:prstGeom>
          <a:noFill/>
        </p:spPr>
        <p:txBody>
          <a:bodyPr wrap="square" anchor="t" lIns="0" rIns="0" tIns="0" bIns="0">
            <a:spAutoFit/>
          </a:bodyPr>
          <a:lstStyle/>
          <a:p>
            <a:pPr algn="ctr">
              <a:spcBef>
                <a:spcPts val="0"/>
              </a:spcBef>
              <a:spcAft>
                <a:spcPts val="0"/>
              </a:spcAft>
            </a:pPr>
            <a:r>
              <a:rPr sz="1600" b="1" i="0">
                <a:solidFill>
                  <a:srgbClr val="58A6FF"/>
                </a:solidFill>
                <a:latin typeface="Arial"/>
              </a:rPr>
              <a:t>2</a:t>
            </a:r>
          </a:p>
        </p:txBody>
      </p:sp>
      <p:sp>
        <p:nvSpPr>
          <p:cNvPr id="12" name="TextBox 11"/>
          <p:cNvSpPr txBox="1"/>
          <p:nvPr/>
        </p:nvSpPr>
        <p:spPr>
          <a:xfrm>
            <a:off x="1371600" y="2487168"/>
            <a:ext cx="7863840" cy="411480"/>
          </a:xfrm>
          <a:prstGeom prst="rect">
            <a:avLst/>
          </a:prstGeom>
          <a:noFill/>
        </p:spPr>
        <p:txBody>
          <a:bodyPr wrap="square" anchor="t" lIns="0" rIns="0" tIns="0" bIns="0">
            <a:spAutoFit/>
          </a:bodyPr>
          <a:lstStyle/>
          <a:p>
            <a:pPr algn="l">
              <a:spcBef>
                <a:spcPts val="0"/>
              </a:spcBef>
              <a:spcAft>
                <a:spcPts val="0"/>
              </a:spcAft>
            </a:pPr>
            <a:r>
              <a:rPr sz="1900" b="0" i="0">
                <a:solidFill>
                  <a:srgbClr val="E6EDF3"/>
                </a:solidFill>
                <a:latin typeface="Arial"/>
              </a:rPr>
              <a:t>Architecture, and three kinds of isolation</a:t>
            </a:r>
          </a:p>
        </p:txBody>
      </p:sp>
      <p:sp>
        <p:nvSpPr>
          <p:cNvPr id="13" name="TextBox 12"/>
          <p:cNvSpPr txBox="1"/>
          <p:nvPr/>
        </p:nvSpPr>
        <p:spPr>
          <a:xfrm>
            <a:off x="9887407" y="2532888"/>
            <a:ext cx="1645920" cy="365760"/>
          </a:xfrm>
          <a:prstGeom prst="rect">
            <a:avLst/>
          </a:prstGeom>
          <a:noFill/>
        </p:spPr>
        <p:txBody>
          <a:bodyPr wrap="square" anchor="t" lIns="0" rIns="0" tIns="0" bIns="0">
            <a:spAutoFit/>
          </a:bodyPr>
          <a:lstStyle/>
          <a:p>
            <a:pPr algn="r">
              <a:spcBef>
                <a:spcPts val="0"/>
              </a:spcBef>
              <a:spcAft>
                <a:spcPts val="0"/>
              </a:spcAft>
            </a:pPr>
            <a:r>
              <a:rPr sz="1300" b="0" i="0">
                <a:solidFill>
                  <a:srgbClr val="8B949E"/>
                </a:solidFill>
                <a:latin typeface="Arial"/>
              </a:rPr>
              <a:t>~2 min</a:t>
            </a:r>
          </a:p>
        </p:txBody>
      </p:sp>
      <p:sp>
        <p:nvSpPr>
          <p:cNvPr id="14" name="Rectangle 13"/>
          <p:cNvSpPr/>
          <p:nvPr/>
        </p:nvSpPr>
        <p:spPr>
          <a:xfrm>
            <a:off x="658368" y="3054096"/>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172968"/>
            <a:ext cx="420624" cy="420624"/>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227832"/>
            <a:ext cx="420624" cy="365760"/>
          </a:xfrm>
          <a:prstGeom prst="rect">
            <a:avLst/>
          </a:prstGeom>
          <a:noFill/>
        </p:spPr>
        <p:txBody>
          <a:bodyPr wrap="square" anchor="t" lIns="0" rIns="0" tIns="0" bIns="0">
            <a:spAutoFit/>
          </a:bodyPr>
          <a:lstStyle/>
          <a:p>
            <a:pPr algn="ctr">
              <a:spcBef>
                <a:spcPts val="0"/>
              </a:spcBef>
              <a:spcAft>
                <a:spcPts val="0"/>
              </a:spcAft>
            </a:pPr>
            <a:r>
              <a:rPr sz="1600" b="1" i="0">
                <a:solidFill>
                  <a:srgbClr val="58A6FF"/>
                </a:solidFill>
                <a:latin typeface="Arial"/>
              </a:rPr>
              <a:t>3</a:t>
            </a:r>
          </a:p>
        </p:txBody>
      </p:sp>
      <p:sp>
        <p:nvSpPr>
          <p:cNvPr id="17" name="TextBox 16"/>
          <p:cNvSpPr txBox="1"/>
          <p:nvPr/>
        </p:nvSpPr>
        <p:spPr>
          <a:xfrm>
            <a:off x="1371600" y="3218688"/>
            <a:ext cx="7863840" cy="411480"/>
          </a:xfrm>
          <a:prstGeom prst="rect">
            <a:avLst/>
          </a:prstGeom>
          <a:noFill/>
        </p:spPr>
        <p:txBody>
          <a:bodyPr wrap="square" anchor="t" lIns="0" rIns="0" tIns="0" bIns="0">
            <a:spAutoFit/>
          </a:bodyPr>
          <a:lstStyle/>
          <a:p>
            <a:pPr algn="l">
              <a:spcBef>
                <a:spcPts val="0"/>
              </a:spcBef>
              <a:spcAft>
                <a:spcPts val="0"/>
              </a:spcAft>
            </a:pPr>
            <a:r>
              <a:rPr sz="1900" b="0" i="0">
                <a:solidFill>
                  <a:srgbClr val="E6EDF3"/>
                </a:solidFill>
                <a:latin typeface="Arial"/>
              </a:rPr>
              <a:t>Live demo</a:t>
            </a:r>
          </a:p>
        </p:txBody>
      </p:sp>
      <p:sp>
        <p:nvSpPr>
          <p:cNvPr id="18" name="TextBox 17"/>
          <p:cNvSpPr txBox="1"/>
          <p:nvPr/>
        </p:nvSpPr>
        <p:spPr>
          <a:xfrm>
            <a:off x="9887407" y="3264408"/>
            <a:ext cx="1645920" cy="365760"/>
          </a:xfrm>
          <a:prstGeom prst="rect">
            <a:avLst/>
          </a:prstGeom>
          <a:noFill/>
        </p:spPr>
        <p:txBody>
          <a:bodyPr wrap="square" anchor="t" lIns="0" rIns="0" tIns="0" bIns="0">
            <a:spAutoFit/>
          </a:bodyPr>
          <a:lstStyle/>
          <a:p>
            <a:pPr algn="r">
              <a:spcBef>
                <a:spcPts val="0"/>
              </a:spcBef>
              <a:spcAft>
                <a:spcPts val="0"/>
              </a:spcAft>
            </a:pPr>
            <a:r>
              <a:rPr sz="1300" b="0" i="0">
                <a:solidFill>
                  <a:srgbClr val="8B949E"/>
                </a:solidFill>
                <a:latin typeface="Arial"/>
              </a:rPr>
              <a:t>~2 min</a:t>
            </a:r>
          </a:p>
        </p:txBody>
      </p:sp>
      <p:sp>
        <p:nvSpPr>
          <p:cNvPr id="19" name="Rectangle 18"/>
          <p:cNvSpPr/>
          <p:nvPr/>
        </p:nvSpPr>
        <p:spPr>
          <a:xfrm>
            <a:off x="658368" y="3785616"/>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3904488"/>
            <a:ext cx="420624" cy="420624"/>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959352"/>
            <a:ext cx="420624" cy="365760"/>
          </a:xfrm>
          <a:prstGeom prst="rect">
            <a:avLst/>
          </a:prstGeom>
          <a:noFill/>
        </p:spPr>
        <p:txBody>
          <a:bodyPr wrap="square" anchor="t" lIns="0" rIns="0" tIns="0" bIns="0">
            <a:spAutoFit/>
          </a:bodyPr>
          <a:lstStyle/>
          <a:p>
            <a:pPr algn="ctr">
              <a:spcBef>
                <a:spcPts val="0"/>
              </a:spcBef>
              <a:spcAft>
                <a:spcPts val="0"/>
              </a:spcAft>
            </a:pPr>
            <a:r>
              <a:rPr sz="1600" b="1" i="0">
                <a:solidFill>
                  <a:srgbClr val="58A6FF"/>
                </a:solidFill>
                <a:latin typeface="Arial"/>
              </a:rPr>
              <a:t>4</a:t>
            </a:r>
          </a:p>
        </p:txBody>
      </p:sp>
      <p:sp>
        <p:nvSpPr>
          <p:cNvPr id="22" name="TextBox 21"/>
          <p:cNvSpPr txBox="1"/>
          <p:nvPr/>
        </p:nvSpPr>
        <p:spPr>
          <a:xfrm>
            <a:off x="1371600" y="3950208"/>
            <a:ext cx="7863840" cy="411480"/>
          </a:xfrm>
          <a:prstGeom prst="rect">
            <a:avLst/>
          </a:prstGeom>
          <a:noFill/>
        </p:spPr>
        <p:txBody>
          <a:bodyPr wrap="square" anchor="t" lIns="0" rIns="0" tIns="0" bIns="0">
            <a:spAutoFit/>
          </a:bodyPr>
          <a:lstStyle/>
          <a:p>
            <a:pPr algn="l">
              <a:spcBef>
                <a:spcPts val="0"/>
              </a:spcBef>
              <a:spcAft>
                <a:spcPts val="0"/>
              </a:spcAft>
            </a:pPr>
            <a:r>
              <a:rPr sz="1900" b="0" i="0">
                <a:solidFill>
                  <a:srgbClr val="E6EDF3"/>
                </a:solidFill>
                <a:latin typeface="Arial"/>
              </a:rPr>
              <a:t>The claim I had to correct</a:t>
            </a:r>
          </a:p>
        </p:txBody>
      </p:sp>
      <p:sp>
        <p:nvSpPr>
          <p:cNvPr id="23" name="TextBox 22"/>
          <p:cNvSpPr txBox="1"/>
          <p:nvPr/>
        </p:nvSpPr>
        <p:spPr>
          <a:xfrm>
            <a:off x="9887407" y="3995928"/>
            <a:ext cx="1645920" cy="365760"/>
          </a:xfrm>
          <a:prstGeom prst="rect">
            <a:avLst/>
          </a:prstGeom>
          <a:noFill/>
        </p:spPr>
        <p:txBody>
          <a:bodyPr wrap="square" anchor="t" lIns="0" rIns="0" tIns="0" bIns="0">
            <a:spAutoFit/>
          </a:bodyPr>
          <a:lstStyle/>
          <a:p>
            <a:pPr algn="r">
              <a:spcBef>
                <a:spcPts val="0"/>
              </a:spcBef>
              <a:spcAft>
                <a:spcPts val="0"/>
              </a:spcAft>
            </a:pPr>
            <a:r>
              <a:rPr sz="1300" b="0" i="0">
                <a:solidFill>
                  <a:srgbClr val="8B949E"/>
                </a:solidFill>
                <a:latin typeface="Arial"/>
              </a:rPr>
              <a:t>~2 min</a:t>
            </a:r>
          </a:p>
        </p:txBody>
      </p:sp>
      <p:sp>
        <p:nvSpPr>
          <p:cNvPr id="24" name="Rectangle 23"/>
          <p:cNvSpPr/>
          <p:nvPr/>
        </p:nvSpPr>
        <p:spPr>
          <a:xfrm>
            <a:off x="658368" y="4517136"/>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4636008"/>
            <a:ext cx="420624" cy="420624"/>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690872"/>
            <a:ext cx="420624" cy="365760"/>
          </a:xfrm>
          <a:prstGeom prst="rect">
            <a:avLst/>
          </a:prstGeom>
          <a:noFill/>
        </p:spPr>
        <p:txBody>
          <a:bodyPr wrap="square" anchor="t" lIns="0" rIns="0" tIns="0" bIns="0">
            <a:spAutoFit/>
          </a:bodyPr>
          <a:lstStyle/>
          <a:p>
            <a:pPr algn="ctr">
              <a:spcBef>
                <a:spcPts val="0"/>
              </a:spcBef>
              <a:spcAft>
                <a:spcPts val="0"/>
              </a:spcAft>
            </a:pPr>
            <a:r>
              <a:rPr sz="1600" b="1" i="0">
                <a:solidFill>
                  <a:srgbClr val="58A6FF"/>
                </a:solidFill>
                <a:latin typeface="Arial"/>
              </a:rPr>
              <a:t>5</a:t>
            </a:r>
          </a:p>
        </p:txBody>
      </p:sp>
      <p:sp>
        <p:nvSpPr>
          <p:cNvPr id="27" name="TextBox 26"/>
          <p:cNvSpPr txBox="1"/>
          <p:nvPr/>
        </p:nvSpPr>
        <p:spPr>
          <a:xfrm>
            <a:off x="1371600" y="4681728"/>
            <a:ext cx="7863840" cy="411480"/>
          </a:xfrm>
          <a:prstGeom prst="rect">
            <a:avLst/>
          </a:prstGeom>
          <a:noFill/>
        </p:spPr>
        <p:txBody>
          <a:bodyPr wrap="square" anchor="t" lIns="0" rIns="0" tIns="0" bIns="0">
            <a:spAutoFit/>
          </a:bodyPr>
          <a:lstStyle/>
          <a:p>
            <a:pPr algn="l">
              <a:spcBef>
                <a:spcPts val="0"/>
              </a:spcBef>
              <a:spcAft>
                <a:spcPts val="0"/>
              </a:spcAft>
            </a:pPr>
            <a:r>
              <a:rPr sz="1900" b="0" i="0">
                <a:solidFill>
                  <a:srgbClr val="E6EDF3"/>
                </a:solidFill>
                <a:latin typeface="Arial"/>
              </a:rPr>
              <a:t>Guardrails, security and cost</a:t>
            </a:r>
          </a:p>
        </p:txBody>
      </p:sp>
      <p:sp>
        <p:nvSpPr>
          <p:cNvPr id="28" name="TextBox 27"/>
          <p:cNvSpPr txBox="1"/>
          <p:nvPr/>
        </p:nvSpPr>
        <p:spPr>
          <a:xfrm>
            <a:off x="9887407" y="4727448"/>
            <a:ext cx="1645920" cy="365760"/>
          </a:xfrm>
          <a:prstGeom prst="rect">
            <a:avLst/>
          </a:prstGeom>
          <a:noFill/>
        </p:spPr>
        <p:txBody>
          <a:bodyPr wrap="square" anchor="t" lIns="0" rIns="0" tIns="0" bIns="0">
            <a:spAutoFit/>
          </a:bodyPr>
          <a:lstStyle/>
          <a:p>
            <a:pPr algn="r">
              <a:spcBef>
                <a:spcPts val="0"/>
              </a:spcBef>
              <a:spcAft>
                <a:spcPts val="0"/>
              </a:spcAft>
            </a:pPr>
            <a:r>
              <a:rPr sz="1300" b="0" i="0">
                <a:solidFill>
                  <a:srgbClr val="8B949E"/>
                </a:solidFill>
                <a:latin typeface="Arial"/>
              </a:rPr>
              <a:t>~2 min</a:t>
            </a:r>
          </a:p>
        </p:txBody>
      </p:sp>
      <p:sp>
        <p:nvSpPr>
          <p:cNvPr id="29" name="Rectangle 28"/>
          <p:cNvSpPr/>
          <p:nvPr/>
        </p:nvSpPr>
        <p:spPr>
          <a:xfrm>
            <a:off x="658368" y="5248656"/>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5367528"/>
            <a:ext cx="420624" cy="420624"/>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422392"/>
            <a:ext cx="420624" cy="365760"/>
          </a:xfrm>
          <a:prstGeom prst="rect">
            <a:avLst/>
          </a:prstGeom>
          <a:noFill/>
        </p:spPr>
        <p:txBody>
          <a:bodyPr wrap="square" anchor="t" lIns="0" rIns="0" tIns="0" bIns="0">
            <a:spAutoFit/>
          </a:bodyPr>
          <a:lstStyle/>
          <a:p>
            <a:pPr algn="ctr">
              <a:spcBef>
                <a:spcPts val="0"/>
              </a:spcBef>
              <a:spcAft>
                <a:spcPts val="0"/>
              </a:spcAft>
            </a:pPr>
            <a:r>
              <a:rPr sz="1600" b="1" i="0">
                <a:solidFill>
                  <a:srgbClr val="58A6FF"/>
                </a:solidFill>
                <a:latin typeface="Arial"/>
              </a:rPr>
              <a:t>6</a:t>
            </a:r>
          </a:p>
        </p:txBody>
      </p:sp>
      <p:sp>
        <p:nvSpPr>
          <p:cNvPr id="32" name="TextBox 31"/>
          <p:cNvSpPr txBox="1"/>
          <p:nvPr/>
        </p:nvSpPr>
        <p:spPr>
          <a:xfrm>
            <a:off x="1371600" y="5413248"/>
            <a:ext cx="7863840" cy="411480"/>
          </a:xfrm>
          <a:prstGeom prst="rect">
            <a:avLst/>
          </a:prstGeom>
          <a:noFill/>
        </p:spPr>
        <p:txBody>
          <a:bodyPr wrap="square" anchor="t" lIns="0" rIns="0" tIns="0" bIns="0">
            <a:spAutoFit/>
          </a:bodyPr>
          <a:lstStyle/>
          <a:p>
            <a:pPr algn="l">
              <a:spcBef>
                <a:spcPts val="0"/>
              </a:spcBef>
              <a:spcAft>
                <a:spcPts val="0"/>
              </a:spcAft>
            </a:pPr>
            <a:r>
              <a:rPr sz="1900" b="0" i="0">
                <a:solidFill>
                  <a:srgbClr val="E6EDF3"/>
                </a:solidFill>
                <a:latin typeface="Arial"/>
              </a:rPr>
              <a:t>What I would do differently</a:t>
            </a:r>
          </a:p>
        </p:txBody>
      </p:sp>
      <p:sp>
        <p:nvSpPr>
          <p:cNvPr id="33" name="TextBox 32"/>
          <p:cNvSpPr txBox="1"/>
          <p:nvPr/>
        </p:nvSpPr>
        <p:spPr>
          <a:xfrm>
            <a:off x="9887407" y="5458968"/>
            <a:ext cx="1645920" cy="365760"/>
          </a:xfrm>
          <a:prstGeom prst="rect">
            <a:avLst/>
          </a:prstGeom>
          <a:noFill/>
        </p:spPr>
        <p:txBody>
          <a:bodyPr wrap="square" anchor="t" lIns="0" rIns="0" tIns="0" bIns="0">
            <a:spAutoFit/>
          </a:bodyPr>
          <a:lstStyle/>
          <a:p>
            <a:pPr algn="r">
              <a:spcBef>
                <a:spcPts val="0"/>
              </a:spcBef>
              <a:spcAft>
                <a:spcPts val="0"/>
              </a:spcAft>
            </a:pPr>
            <a:r>
              <a:rPr sz="1300" b="0" i="0">
                <a:solidFill>
                  <a:srgbClr val="8B949E"/>
                </a:solidFill>
                <a:latin typeface="Arial"/>
              </a:rPr>
              <a:t>~1 min</a:t>
            </a:r>
          </a:p>
        </p:txBody>
      </p:sp>
      <p:sp>
        <p:nvSpPr>
          <p:cNvPr id="34" name="Rectangle 33"/>
          <p:cNvSpPr/>
          <p:nvPr/>
        </p:nvSpPr>
        <p:spPr>
          <a:xfrm>
            <a:off x="658368" y="5980176"/>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The problem I actually had</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3 / 12</a:t>
            </a:r>
          </a:p>
        </p:txBody>
      </p:sp>
      <p:sp>
        <p:nvSpPr>
          <p:cNvPr id="5" name="TextBox 4"/>
          <p:cNvSpPr txBox="1"/>
          <p:nvPr/>
        </p:nvSpPr>
        <p:spPr>
          <a:xfrm>
            <a:off x="658368" y="1481328"/>
            <a:ext cx="10874959" cy="4828032"/>
          </a:xfrm>
          <a:prstGeom prst="rect">
            <a:avLst/>
          </a:prstGeom>
          <a:noFill/>
        </p:spPr>
        <p:txBody>
          <a:bodyPr wrap="square" anchor="t" lIns="0" rIns="0" tIns="0" bIns="0">
            <a:spAutoFit/>
          </a:bodyPr>
          <a:lstStyle/>
          <a:p>
            <a:pPr algn="l">
              <a:lnSpc>
                <a:spcPct val="118000"/>
              </a:lnSpc>
              <a:spcBef>
                <a:spcPts val="800"/>
              </a:spcBef>
              <a:spcAft>
                <a:spcPts val="500"/>
              </a:spcAft>
            </a:pPr>
            <a:r>
              <a:rPr sz="1900" b="1" i="0">
                <a:solidFill>
                  <a:srgbClr val="7EE787"/>
                </a:solidFill>
                <a:latin typeface="Arial"/>
              </a:rPr>
              <a:t>The situation</a:t>
            </a:r>
          </a:p>
          <a:p>
            <a:pPr algn="l">
              <a:lnSpc>
                <a:spcPct val="118000"/>
              </a:lnSpc>
              <a:spcBef>
                <a:spcPts val="0"/>
              </a:spcBef>
              <a:spcAft>
                <a:spcPts val="800"/>
              </a:spcAft>
            </a:pPr>
            <a:r>
              <a:rPr sz="1600" b="0" i="0">
                <a:solidFill>
                  <a:srgbClr val="E6EDF3"/>
                </a:solidFill>
                <a:latin typeface="Arial"/>
              </a:rPr>
              <a:t>•  I wanted a genuinely production-shaped AWS platform for my portfolio.</a:t>
            </a:r>
          </a:p>
          <a:p>
            <a:pPr algn="l">
              <a:lnSpc>
                <a:spcPct val="118000"/>
              </a:lnSpc>
              <a:spcBef>
                <a:spcPts val="0"/>
              </a:spcBef>
              <a:spcAft>
                <a:spcPts val="800"/>
              </a:spcAft>
            </a:pPr>
            <a:r>
              <a:rPr sz="1600" b="0" i="0">
                <a:solidFill>
                  <a:srgbClr val="E6EDF3"/>
                </a:solidFill>
                <a:latin typeface="Arial"/>
              </a:rPr>
              <a:t>•  I did not want to pay </a:t>
            </a:r>
            <a:r>
              <a:rPr sz="1600" b="1" i="0">
                <a:solidFill>
                  <a:srgbClr val="E6EDF3"/>
                </a:solidFill>
                <a:latin typeface="Arial"/>
              </a:rPr>
              <a:t>USD 71 a month</a:t>
            </a:r>
            <a:r>
              <a:rPr sz="1600" b="0" i="0">
                <a:solidFill>
                  <a:srgbClr val="E6EDF3"/>
                </a:solidFill>
                <a:latin typeface="Arial"/>
              </a:rPr>
              <a:t> for it to sit idle overnight.</a:t>
            </a:r>
          </a:p>
          <a:p>
            <a:pPr>
              <a:spcAft>
                <a:spcPts val="500"/>
              </a:spcAft>
            </a:pPr>
          </a:p>
          <a:p>
            <a:pPr algn="l">
              <a:lnSpc>
                <a:spcPct val="118000"/>
              </a:lnSpc>
              <a:spcBef>
                <a:spcPts val="800"/>
              </a:spcBef>
              <a:spcAft>
                <a:spcPts val="500"/>
              </a:spcAft>
            </a:pPr>
            <a:r>
              <a:rPr sz="1900" b="1" i="0">
                <a:solidFill>
                  <a:srgbClr val="7EE787"/>
                </a:solidFill>
                <a:latin typeface="Arial"/>
              </a:rPr>
              <a:t>So the constraint became the design brief</a:t>
            </a:r>
          </a:p>
          <a:p>
            <a:pPr algn="l">
              <a:lnSpc>
                <a:spcPct val="118000"/>
              </a:lnSpc>
              <a:spcBef>
                <a:spcPts val="0"/>
              </a:spcBef>
              <a:spcAft>
                <a:spcPts val="600"/>
              </a:spcAft>
            </a:pPr>
            <a:r>
              <a:rPr sz="1700" b="0" i="0">
                <a:solidFill>
                  <a:srgbClr val="E6EDF3"/>
                </a:solidFill>
                <a:latin typeface="Arial"/>
              </a:rPr>
              <a:t>“Build something production-shaped — multi-AZ, load balanced, monitored, secured — </a:t>
            </a:r>
            <a:r>
              <a:rPr sz="1700" b="1" i="0">
                <a:solidFill>
                  <a:srgbClr val="E6EDF3"/>
                </a:solidFill>
                <a:latin typeface="Arial"/>
              </a:rPr>
              <a:t>and that can be destroyed and rebuilt in six minutes.</a:t>
            </a:r>
            <a:r>
              <a:rPr sz="1700" b="0" i="0">
                <a:solidFill>
                  <a:srgbClr val="E6EDF3"/>
                </a:solidFill>
                <a:latin typeface="Arial"/>
              </a:rPr>
              <a:t>”</a:t>
            </a:r>
          </a:p>
          <a:p>
            <a:pPr>
              <a:spcAft>
                <a:spcPts val="500"/>
              </a:spcAft>
            </a:pPr>
          </a:p>
          <a:p>
            <a:pPr algn="l">
              <a:lnSpc>
                <a:spcPct val="118000"/>
              </a:lnSpc>
              <a:spcBef>
                <a:spcPts val="0"/>
              </a:spcBef>
              <a:spcAft>
                <a:spcPts val="600"/>
              </a:spcAft>
            </a:pPr>
            <a:r>
              <a:rPr sz="1500" b="0" i="1">
                <a:solidFill>
                  <a:srgbClr val="8B949E"/>
                </a:solidFill>
                <a:latin typeface="Arial"/>
              </a:rPr>
              <a:t>Everything that follows is downstream of that one sentence.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What it is</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4 / 12</a:t>
            </a:r>
          </a:p>
        </p:txBody>
      </p:sp>
      <p:sp>
        <p:nvSpPr>
          <p:cNvPr id="5" name="Rectangle 4"/>
          <p:cNvSpPr/>
          <p:nvPr/>
        </p:nvSpPr>
        <p:spPr>
          <a:xfrm>
            <a:off x="658368" y="1481328"/>
            <a:ext cx="4617720" cy="1024128"/>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9344"/>
            <a:ext cx="4288536" cy="822960"/>
          </a:xfrm>
          <a:prstGeom prst="rect">
            <a:avLst/>
          </a:prstGeom>
          <a:noFill/>
        </p:spPr>
        <p:txBody>
          <a:bodyPr wrap="square" anchor="t" lIns="0" rIns="0" tIns="0" bIns="0">
            <a:spAutoFit/>
          </a:bodyPr>
          <a:lstStyle/>
          <a:p>
            <a:pPr>
              <a:lnSpc>
                <a:spcPct val="125000"/>
              </a:lnSpc>
            </a:pPr>
            <a:r>
              <a:rPr sz="1150" b="0" i="0">
                <a:solidFill>
                  <a:srgbClr val="7EE787"/>
                </a:solidFill>
                <a:latin typeface="Courier New"/>
              </a:rPr>
              <a:t>Internet  →  ALB (public subnets, 2 AZs)  →  ASG: 3 × t4g.micro (private subnets)  →  DynamoDB (VPC gateway endpoint)</a:t>
            </a:r>
          </a:p>
        </p:txBody>
      </p:sp>
      <p:sp>
        <p:nvSpPr>
          <p:cNvPr id="7" name="TextBox 6"/>
          <p:cNvSpPr txBox="1"/>
          <p:nvPr/>
        </p:nvSpPr>
        <p:spPr>
          <a:xfrm>
            <a:off x="658368" y="2779776"/>
            <a:ext cx="4617720" cy="384048"/>
          </a:xfrm>
          <a:prstGeom prst="rect">
            <a:avLst/>
          </a:prstGeom>
          <a:noFill/>
        </p:spPr>
        <p:txBody>
          <a:bodyPr wrap="square" anchor="t" lIns="0" rIns="0" tIns="0" bIns="0">
            <a:spAutoFit/>
          </a:bodyPr>
          <a:lstStyle/>
          <a:p>
            <a:pPr algn="l">
              <a:spcBef>
                <a:spcPts val="0"/>
              </a:spcBef>
              <a:spcAft>
                <a:spcPts val="0"/>
              </a:spcAft>
            </a:pPr>
            <a:r>
              <a:rPr sz="2100" b="1" i="0">
                <a:solidFill>
                  <a:srgbClr val="58A6FF"/>
                </a:solidFill>
                <a:latin typeface="Arial"/>
              </a:rPr>
              <a:t>77 resources</a:t>
            </a:r>
          </a:p>
        </p:txBody>
      </p:sp>
      <p:sp>
        <p:nvSpPr>
          <p:cNvPr id="8" name="TextBox 7"/>
          <p:cNvSpPr txBox="1"/>
          <p:nvPr/>
        </p:nvSpPr>
        <p:spPr>
          <a:xfrm>
            <a:off x="658368" y="3145536"/>
            <a:ext cx="4617720" cy="310896"/>
          </a:xfrm>
          <a:prstGeom prst="rect">
            <a:avLst/>
          </a:prstGeom>
          <a:noFill/>
        </p:spPr>
        <p:txBody>
          <a:bodyPr wrap="square" anchor="t" lIns="0" rIns="0" tIns="0" bIns="0">
            <a:spAutoFit/>
          </a:bodyPr>
          <a:lstStyle/>
          <a:p>
            <a:pPr algn="l">
              <a:spcBef>
                <a:spcPts val="0"/>
              </a:spcBef>
              <a:spcAft>
                <a:spcPts val="0"/>
              </a:spcAft>
            </a:pPr>
            <a:r>
              <a:rPr sz="1300" b="0" i="0">
                <a:solidFill>
                  <a:srgbClr val="8B949E"/>
                </a:solidFill>
                <a:latin typeface="Arial"/>
              </a:rPr>
              <a:t>in the dev environment</a:t>
            </a:r>
          </a:p>
        </p:txBody>
      </p:sp>
      <p:sp>
        <p:nvSpPr>
          <p:cNvPr id="9" name="TextBox 8"/>
          <p:cNvSpPr txBox="1"/>
          <p:nvPr/>
        </p:nvSpPr>
        <p:spPr>
          <a:xfrm>
            <a:off x="658368" y="3602736"/>
            <a:ext cx="4617720" cy="384048"/>
          </a:xfrm>
          <a:prstGeom prst="rect">
            <a:avLst/>
          </a:prstGeom>
          <a:noFill/>
        </p:spPr>
        <p:txBody>
          <a:bodyPr wrap="square" anchor="t" lIns="0" rIns="0" tIns="0" bIns="0">
            <a:spAutoFit/>
          </a:bodyPr>
          <a:lstStyle/>
          <a:p>
            <a:pPr algn="l">
              <a:spcBef>
                <a:spcPts val="0"/>
              </a:spcBef>
              <a:spcAft>
                <a:spcPts val="0"/>
              </a:spcAft>
            </a:pPr>
            <a:r>
              <a:rPr sz="2100" b="1" i="0">
                <a:solidFill>
                  <a:srgbClr val="58A6FF"/>
                </a:solidFill>
                <a:latin typeface="Arial"/>
              </a:rPr>
              <a:t>4 modules</a:t>
            </a:r>
          </a:p>
        </p:txBody>
      </p:sp>
      <p:sp>
        <p:nvSpPr>
          <p:cNvPr id="10" name="TextBox 9"/>
          <p:cNvSpPr txBox="1"/>
          <p:nvPr/>
        </p:nvSpPr>
        <p:spPr>
          <a:xfrm>
            <a:off x="658368" y="3968496"/>
            <a:ext cx="4617720" cy="310896"/>
          </a:xfrm>
          <a:prstGeom prst="rect">
            <a:avLst/>
          </a:prstGeom>
          <a:noFill/>
        </p:spPr>
        <p:txBody>
          <a:bodyPr wrap="square" anchor="t" lIns="0" rIns="0" tIns="0" bIns="0">
            <a:spAutoFit/>
          </a:bodyPr>
          <a:lstStyle/>
          <a:p>
            <a:pPr algn="l">
              <a:spcBef>
                <a:spcPts val="0"/>
              </a:spcBef>
              <a:spcAft>
                <a:spcPts val="0"/>
              </a:spcAft>
            </a:pPr>
            <a:r>
              <a:rPr sz="1300" b="0" i="0">
                <a:solidFill>
                  <a:srgbClr val="8B949E"/>
                </a:solidFill>
                <a:latin typeface="Arial"/>
              </a:rPr>
              <a:t>networking · data · compute · monitoring</a:t>
            </a:r>
          </a:p>
        </p:txBody>
      </p:sp>
      <p:sp>
        <p:nvSpPr>
          <p:cNvPr id="11" name="TextBox 10"/>
          <p:cNvSpPr txBox="1"/>
          <p:nvPr/>
        </p:nvSpPr>
        <p:spPr>
          <a:xfrm>
            <a:off x="658368" y="4425696"/>
            <a:ext cx="4617720" cy="384048"/>
          </a:xfrm>
          <a:prstGeom prst="rect">
            <a:avLst/>
          </a:prstGeom>
          <a:noFill/>
        </p:spPr>
        <p:txBody>
          <a:bodyPr wrap="square" anchor="t" lIns="0" rIns="0" tIns="0" bIns="0">
            <a:spAutoFit/>
          </a:bodyPr>
          <a:lstStyle/>
          <a:p>
            <a:pPr algn="l">
              <a:spcBef>
                <a:spcPts val="0"/>
              </a:spcBef>
              <a:spcAft>
                <a:spcPts val="0"/>
              </a:spcAft>
            </a:pPr>
            <a:r>
              <a:rPr sz="2100" b="1" i="0">
                <a:solidFill>
                  <a:srgbClr val="58A6FF"/>
                </a:solidFill>
                <a:latin typeface="Arial"/>
              </a:rPr>
              <a:t>~6 minutes</a:t>
            </a:r>
          </a:p>
        </p:txBody>
      </p:sp>
      <p:sp>
        <p:nvSpPr>
          <p:cNvPr id="12" name="TextBox 11"/>
          <p:cNvSpPr txBox="1"/>
          <p:nvPr/>
        </p:nvSpPr>
        <p:spPr>
          <a:xfrm>
            <a:off x="658368" y="4791456"/>
            <a:ext cx="4617720" cy="310896"/>
          </a:xfrm>
          <a:prstGeom prst="rect">
            <a:avLst/>
          </a:prstGeom>
          <a:noFill/>
        </p:spPr>
        <p:txBody>
          <a:bodyPr wrap="square" anchor="t" lIns="0" rIns="0" tIns="0" bIns="0">
            <a:spAutoFit/>
          </a:bodyPr>
          <a:lstStyle/>
          <a:p>
            <a:pPr algn="l">
              <a:spcBef>
                <a:spcPts val="0"/>
              </a:spcBef>
              <a:spcAft>
                <a:spcPts val="0"/>
              </a:spcAft>
            </a:pPr>
            <a:r>
              <a:rPr sz="1300" b="0" i="0">
                <a:solidFill>
                  <a:srgbClr val="8B949E"/>
                </a:solidFill>
                <a:latin typeface="Arial"/>
              </a:rPr>
              <a:t>from nothing to serving traffic</a:t>
            </a:r>
          </a:p>
        </p:txBody>
      </p:sp>
      <p:sp>
        <p:nvSpPr>
          <p:cNvPr id="13" name="TextBox 12"/>
          <p:cNvSpPr txBox="1"/>
          <p:nvPr/>
        </p:nvSpPr>
        <p:spPr>
          <a:xfrm>
            <a:off x="658368" y="5248656"/>
            <a:ext cx="4617720" cy="384048"/>
          </a:xfrm>
          <a:prstGeom prst="rect">
            <a:avLst/>
          </a:prstGeom>
          <a:noFill/>
        </p:spPr>
        <p:txBody>
          <a:bodyPr wrap="square" anchor="t" lIns="0" rIns="0" tIns="0" bIns="0">
            <a:spAutoFit/>
          </a:bodyPr>
          <a:lstStyle/>
          <a:p>
            <a:pPr algn="l">
              <a:spcBef>
                <a:spcPts val="0"/>
              </a:spcBef>
              <a:spcAft>
                <a:spcPts val="0"/>
              </a:spcAft>
            </a:pPr>
            <a:r>
              <a:rPr sz="2100" b="1" i="0">
                <a:solidFill>
                  <a:srgbClr val="58A6FF"/>
                </a:solidFill>
                <a:latin typeface="Arial"/>
              </a:rPr>
              <a:t>~USD 0.096/hr</a:t>
            </a:r>
          </a:p>
        </p:txBody>
      </p:sp>
      <p:sp>
        <p:nvSpPr>
          <p:cNvPr id="14" name="TextBox 13"/>
          <p:cNvSpPr txBox="1"/>
          <p:nvPr/>
        </p:nvSpPr>
        <p:spPr>
          <a:xfrm>
            <a:off x="658368" y="5614416"/>
            <a:ext cx="4617720" cy="310896"/>
          </a:xfrm>
          <a:prstGeom prst="rect">
            <a:avLst/>
          </a:prstGeom>
          <a:noFill/>
        </p:spPr>
        <p:txBody>
          <a:bodyPr wrap="square" anchor="t" lIns="0" rIns="0" tIns="0" bIns="0">
            <a:spAutoFit/>
          </a:bodyPr>
          <a:lstStyle/>
          <a:p>
            <a:pPr algn="l">
              <a:spcBef>
                <a:spcPts val="0"/>
              </a:spcBef>
              <a:spcAft>
                <a:spcPts val="0"/>
              </a:spcAft>
            </a:pPr>
            <a:r>
              <a:rPr sz="1300" b="0" i="0">
                <a:solidFill>
                  <a:srgbClr val="8B949E"/>
                </a:solidFill>
                <a:latin typeface="Arial"/>
              </a:rPr>
              <a:t>while it exists</a:t>
            </a:r>
          </a:p>
        </p:txBody>
      </p:sp>
      <p:pic>
        <p:nvPicPr>
          <p:cNvPr id="15" name="Picture 14" descr="architecture-overview.png"/>
          <p:cNvPicPr>
            <a:picLocks noChangeAspect="1"/>
          </p:cNvPicPr>
          <p:nvPr/>
        </p:nvPicPr>
        <p:blipFill>
          <a:blip r:embed="rId2"/>
          <a:stretch>
            <a:fillRect/>
          </a:stretch>
        </p:blipFill>
        <p:spPr>
          <a:xfrm>
            <a:off x="5660136" y="1555597"/>
            <a:ext cx="5873191" cy="456062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Three tiers, isolated by three different mechanisms</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5 / 12</a:t>
            </a:r>
          </a:p>
        </p:txBody>
      </p:sp>
      <p:sp>
        <p:nvSpPr>
          <p:cNvPr id="5" name="TextBox 4"/>
          <p:cNvSpPr txBox="1"/>
          <p:nvPr/>
        </p:nvSpPr>
        <p:spPr>
          <a:xfrm>
            <a:off x="658368" y="1481328"/>
            <a:ext cx="219456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TIER</a:t>
            </a:r>
          </a:p>
        </p:txBody>
      </p:sp>
      <p:sp>
        <p:nvSpPr>
          <p:cNvPr id="6" name="TextBox 5"/>
          <p:cNvSpPr txBox="1"/>
          <p:nvPr/>
        </p:nvSpPr>
        <p:spPr>
          <a:xfrm>
            <a:off x="3035808" y="1481328"/>
            <a:ext cx="347472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WHERE IT LIVES</a:t>
            </a:r>
          </a:p>
        </p:txBody>
      </p:sp>
      <p:sp>
        <p:nvSpPr>
          <p:cNvPr id="7" name="TextBox 6"/>
          <p:cNvSpPr txBox="1"/>
          <p:nvPr/>
        </p:nvSpPr>
        <p:spPr>
          <a:xfrm>
            <a:off x="6693408" y="1481328"/>
            <a:ext cx="457200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WHAT ISOLATES IT</a:t>
            </a:r>
          </a:p>
        </p:txBody>
      </p:sp>
      <p:sp>
        <p:nvSpPr>
          <p:cNvPr id="8" name="Rectangle 7"/>
          <p:cNvSpPr/>
          <p:nvPr/>
        </p:nvSpPr>
        <p:spPr>
          <a:xfrm>
            <a:off x="658368" y="181051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38528"/>
            <a:ext cx="219456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Edge</a:t>
            </a:r>
          </a:p>
        </p:txBody>
      </p:sp>
      <p:sp>
        <p:nvSpPr>
          <p:cNvPr id="10" name="TextBox 9"/>
          <p:cNvSpPr txBox="1"/>
          <p:nvPr/>
        </p:nvSpPr>
        <p:spPr>
          <a:xfrm>
            <a:off x="3035808" y="1938528"/>
            <a:ext cx="34747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Public subnets</a:t>
            </a:r>
          </a:p>
        </p:txBody>
      </p:sp>
      <p:sp>
        <p:nvSpPr>
          <p:cNvPr id="11" name="TextBox 10"/>
          <p:cNvSpPr txBox="1"/>
          <p:nvPr/>
        </p:nvSpPr>
        <p:spPr>
          <a:xfrm>
            <a:off x="6693408" y="1938528"/>
            <a:ext cx="4572000" cy="64008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Security group — only port 80, only from the internet</a:t>
            </a:r>
          </a:p>
        </p:txBody>
      </p:sp>
      <p:sp>
        <p:nvSpPr>
          <p:cNvPr id="12" name="Rectangle 11"/>
          <p:cNvSpPr/>
          <p:nvPr/>
        </p:nvSpPr>
        <p:spPr>
          <a:xfrm>
            <a:off x="658368" y="2624328"/>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706624"/>
            <a:ext cx="219456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Application</a:t>
            </a:r>
          </a:p>
        </p:txBody>
      </p:sp>
      <p:sp>
        <p:nvSpPr>
          <p:cNvPr id="14" name="TextBox 13"/>
          <p:cNvSpPr txBox="1"/>
          <p:nvPr/>
        </p:nvSpPr>
        <p:spPr>
          <a:xfrm>
            <a:off x="3035808" y="2706624"/>
            <a:ext cx="34747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Private subnets</a:t>
            </a:r>
          </a:p>
        </p:txBody>
      </p:sp>
      <p:sp>
        <p:nvSpPr>
          <p:cNvPr id="15" name="TextBox 14"/>
          <p:cNvSpPr txBox="1"/>
          <p:nvPr/>
        </p:nvSpPr>
        <p:spPr>
          <a:xfrm>
            <a:off x="6693408" y="2706624"/>
            <a:ext cx="457200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No route from the internet at all</a:t>
            </a:r>
          </a:p>
        </p:txBody>
      </p:sp>
      <p:sp>
        <p:nvSpPr>
          <p:cNvPr id="16" name="Rectangle 15"/>
          <p:cNvSpPr/>
          <p:nvPr/>
        </p:nvSpPr>
        <p:spPr>
          <a:xfrm>
            <a:off x="658368" y="3118104"/>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200400"/>
            <a:ext cx="219456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Data</a:t>
            </a:r>
          </a:p>
        </p:txBody>
      </p:sp>
      <p:sp>
        <p:nvSpPr>
          <p:cNvPr id="18" name="TextBox 17"/>
          <p:cNvSpPr txBox="1"/>
          <p:nvPr/>
        </p:nvSpPr>
        <p:spPr>
          <a:xfrm>
            <a:off x="3035808" y="3200400"/>
            <a:ext cx="34747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Not in a subnet</a:t>
            </a:r>
          </a:p>
        </p:txBody>
      </p:sp>
      <p:sp>
        <p:nvSpPr>
          <p:cNvPr id="19" name="TextBox 18"/>
          <p:cNvSpPr txBox="1"/>
          <p:nvPr/>
        </p:nvSpPr>
        <p:spPr>
          <a:xfrm>
            <a:off x="6693408" y="3200400"/>
            <a:ext cx="4572000" cy="64008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IAM</a:t>
            </a:r>
            <a:r>
              <a:rPr sz="1500" b="0" i="0">
                <a:solidFill>
                  <a:srgbClr val="E6EDF3"/>
                </a:solidFill>
                <a:latin typeface="Arial"/>
              </a:rPr>
              <a:t> — 5 read-only actions, scoped to 1 table ARN</a:t>
            </a:r>
          </a:p>
        </p:txBody>
      </p:sp>
      <p:sp>
        <p:nvSpPr>
          <p:cNvPr id="20" name="Rectangle 19"/>
          <p:cNvSpPr/>
          <p:nvPr/>
        </p:nvSpPr>
        <p:spPr>
          <a:xfrm>
            <a:off x="658368" y="3886200"/>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169664"/>
            <a:ext cx="10874959" cy="2249424"/>
          </a:xfrm>
          <a:prstGeom prst="rect">
            <a:avLst/>
          </a:prstGeom>
          <a:noFill/>
        </p:spPr>
        <p:txBody>
          <a:bodyPr wrap="square" anchor="t" lIns="0" rIns="0" tIns="0" bIns="0">
            <a:spAutoFit/>
          </a:bodyPr>
          <a:lstStyle/>
          <a:p>
            <a:pPr algn="l">
              <a:lnSpc>
                <a:spcPct val="118000"/>
              </a:lnSpc>
              <a:spcBef>
                <a:spcPts val="800"/>
              </a:spcBef>
              <a:spcAft>
                <a:spcPts val="500"/>
              </a:spcAft>
            </a:pPr>
            <a:r>
              <a:rPr sz="1700" b="1" i="0">
                <a:solidFill>
                  <a:srgbClr val="7EE787"/>
                </a:solidFill>
                <a:latin typeface="Arial"/>
              </a:rPr>
              <a:t>Two details that matter</a:t>
            </a:r>
          </a:p>
          <a:p>
            <a:pPr algn="l">
              <a:lnSpc>
                <a:spcPct val="118000"/>
              </a:lnSpc>
              <a:spcBef>
                <a:spcPts val="0"/>
              </a:spcBef>
              <a:spcAft>
                <a:spcPts val="800"/>
              </a:spcAft>
            </a:pPr>
            <a:r>
              <a:rPr sz="1400" b="0" i="0">
                <a:solidFill>
                  <a:srgbClr val="E6EDF3"/>
                </a:solidFill>
                <a:latin typeface="Arial"/>
              </a:rPr>
              <a:t>•  Security groups </a:t>
            </a:r>
            <a:r>
              <a:rPr sz="1400" b="1" i="0">
                <a:solidFill>
                  <a:srgbClr val="E6EDF3"/>
                </a:solidFill>
                <a:latin typeface="Arial"/>
              </a:rPr>
              <a:t>reference each other</a:t>
            </a:r>
            <a:r>
              <a:rPr sz="1400" b="0" i="0">
                <a:solidFill>
                  <a:srgbClr val="E6EDF3"/>
                </a:solidFill>
                <a:latin typeface="Arial"/>
              </a:rPr>
              <a:t>, not CIDR ranges. The app tier accepts traffic from the ALB's </a:t>
            </a:r>
            <a:r>
              <a:rPr sz="1400" b="0" i="1">
                <a:solidFill>
                  <a:srgbClr val="E6EDF3"/>
                </a:solidFill>
                <a:latin typeface="Arial"/>
              </a:rPr>
              <a:t>security group</a:t>
            </a:r>
            <a:r>
              <a:rPr sz="1400" b="0" i="0">
                <a:solidFill>
                  <a:srgbClr val="E6EDF3"/>
                </a:solidFill>
                <a:latin typeface="Arial"/>
              </a:rPr>
              <a:t> — which stays correct however the ALB is re-addressed.</a:t>
            </a:r>
          </a:p>
          <a:p>
            <a:pPr algn="l">
              <a:lnSpc>
                <a:spcPct val="118000"/>
              </a:lnSpc>
              <a:spcBef>
                <a:spcPts val="0"/>
              </a:spcBef>
              <a:spcAft>
                <a:spcPts val="800"/>
              </a:spcAft>
            </a:pPr>
            <a:r>
              <a:rPr sz="1400" b="0" i="0">
                <a:solidFill>
                  <a:srgbClr val="E6EDF3"/>
                </a:solidFill>
                <a:latin typeface="Arial"/>
              </a:rPr>
              <a:t>•  The ALB's </a:t>
            </a:r>
            <a:r>
              <a:rPr sz="1400" b="1" i="0">
                <a:solidFill>
                  <a:srgbClr val="E6EDF3"/>
                </a:solidFill>
                <a:latin typeface="Arial"/>
              </a:rPr>
              <a:t>egress</a:t>
            </a:r>
            <a:r>
              <a:rPr sz="1400" b="0" i="0">
                <a:solidFill>
                  <a:srgbClr val="E6EDF3"/>
                </a:solidFill>
                <a:latin typeface="Arial"/>
              </a:rPr>
              <a:t> is restricted to the app tier. A compromised load balancer cannot reach anything else in the VPC.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Live demo</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6 / 12</a:t>
            </a:r>
          </a:p>
        </p:txBody>
      </p:sp>
      <p:sp>
        <p:nvSpPr>
          <p:cNvPr id="5" name="TextBox 4"/>
          <p:cNvSpPr txBox="1"/>
          <p:nvPr/>
        </p:nvSpPr>
        <p:spPr>
          <a:xfrm>
            <a:off x="658368" y="1481328"/>
            <a:ext cx="384048" cy="329184"/>
          </a:xfrm>
          <a:prstGeom prst="rect">
            <a:avLst/>
          </a:prstGeom>
          <a:noFill/>
        </p:spPr>
        <p:txBody>
          <a:bodyPr wrap="square" anchor="t" lIns="0" rIns="0" tIns="0" bIns="0">
            <a:spAutoFit/>
          </a:bodyPr>
          <a:lstStyle/>
          <a:p>
            <a:pPr algn="l">
              <a:spcBef>
                <a:spcPts val="0"/>
              </a:spcBef>
              <a:spcAft>
                <a:spcPts val="0"/>
              </a:spcAft>
            </a:pPr>
            <a:r>
              <a:rPr sz="1700" b="1" i="0">
                <a:solidFill>
                  <a:srgbClr val="58A6FF"/>
                </a:solidFill>
                <a:latin typeface="Arial"/>
              </a:rPr>
              <a:t>1</a:t>
            </a:r>
          </a:p>
        </p:txBody>
      </p:sp>
      <p:sp>
        <p:nvSpPr>
          <p:cNvPr id="6" name="TextBox 5"/>
          <p:cNvSpPr txBox="1"/>
          <p:nvPr/>
        </p:nvSpPr>
        <p:spPr>
          <a:xfrm>
            <a:off x="1078992" y="1463040"/>
            <a:ext cx="4654296" cy="310896"/>
          </a:xfrm>
          <a:prstGeom prst="rect">
            <a:avLst/>
          </a:prstGeom>
          <a:noFill/>
        </p:spPr>
        <p:txBody>
          <a:bodyPr wrap="square" anchor="t" lIns="0" rIns="0" tIns="0" bIns="0">
            <a:spAutoFit/>
          </a:bodyPr>
          <a:lstStyle/>
          <a:p>
            <a:pPr algn="l">
              <a:spcBef>
                <a:spcPts val="0"/>
              </a:spcBef>
              <a:spcAft>
                <a:spcPts val="0"/>
              </a:spcAft>
            </a:pPr>
            <a:r>
              <a:rPr sz="1700" b="1" i="0">
                <a:solidFill>
                  <a:srgbClr val="7EE787"/>
                </a:solidFill>
                <a:latin typeface="Arial"/>
              </a:rPr>
              <a:t>The storefront</a:t>
            </a:r>
          </a:p>
        </p:txBody>
      </p:sp>
      <p:sp>
        <p:nvSpPr>
          <p:cNvPr id="7" name="TextBox 6"/>
          <p:cNvSpPr txBox="1"/>
          <p:nvPr/>
        </p:nvSpPr>
        <p:spPr>
          <a:xfrm>
            <a:off x="1078992" y="1792224"/>
            <a:ext cx="4654296" cy="749808"/>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E6EDF3"/>
                </a:solidFill>
                <a:latin typeface="Arial"/>
              </a:rPr>
              <a:t>Press </a:t>
            </a:r>
            <a:r>
              <a:rPr sz="1350" b="1" i="0">
                <a:solidFill>
                  <a:srgbClr val="E6EDF3"/>
                </a:solidFill>
                <a:latin typeface="Arial"/>
              </a:rPr>
              <a:t>Start</a:t>
            </a:r>
            <a:r>
              <a:rPr sz="1350" b="0" i="0">
                <a:solidFill>
                  <a:srgbClr val="E6EDF3"/>
                </a:solidFill>
                <a:latin typeface="Arial"/>
              </a:rPr>
              <a:t> — the live view polls the API 3×/sec and tallies who answers.</a:t>
            </a:r>
          </a:p>
        </p:txBody>
      </p:sp>
      <p:sp>
        <p:nvSpPr>
          <p:cNvPr id="8" name="TextBox 7"/>
          <p:cNvSpPr txBox="1"/>
          <p:nvPr/>
        </p:nvSpPr>
        <p:spPr>
          <a:xfrm>
            <a:off x="658368" y="2542032"/>
            <a:ext cx="384048" cy="329184"/>
          </a:xfrm>
          <a:prstGeom prst="rect">
            <a:avLst/>
          </a:prstGeom>
          <a:noFill/>
        </p:spPr>
        <p:txBody>
          <a:bodyPr wrap="square" anchor="t" lIns="0" rIns="0" tIns="0" bIns="0">
            <a:spAutoFit/>
          </a:bodyPr>
          <a:lstStyle/>
          <a:p>
            <a:pPr algn="l">
              <a:spcBef>
                <a:spcPts val="0"/>
              </a:spcBef>
              <a:spcAft>
                <a:spcPts val="0"/>
              </a:spcAft>
            </a:pPr>
            <a:r>
              <a:rPr sz="1700" b="1" i="0">
                <a:solidFill>
                  <a:srgbClr val="58A6FF"/>
                </a:solidFill>
                <a:latin typeface="Arial"/>
              </a:rPr>
              <a:t>2</a:t>
            </a:r>
          </a:p>
        </p:txBody>
      </p:sp>
      <p:sp>
        <p:nvSpPr>
          <p:cNvPr id="9" name="TextBox 8"/>
          <p:cNvSpPr txBox="1"/>
          <p:nvPr/>
        </p:nvSpPr>
        <p:spPr>
          <a:xfrm>
            <a:off x="1078992" y="2523744"/>
            <a:ext cx="4654296" cy="310896"/>
          </a:xfrm>
          <a:prstGeom prst="rect">
            <a:avLst/>
          </a:prstGeom>
          <a:noFill/>
        </p:spPr>
        <p:txBody>
          <a:bodyPr wrap="square" anchor="t" lIns="0" rIns="0" tIns="0" bIns="0">
            <a:spAutoFit/>
          </a:bodyPr>
          <a:lstStyle/>
          <a:p>
            <a:pPr algn="l">
              <a:spcBef>
                <a:spcPts val="0"/>
              </a:spcBef>
              <a:spcAft>
                <a:spcPts val="0"/>
              </a:spcAft>
            </a:pPr>
            <a:r>
              <a:rPr sz="1700" b="1" i="0">
                <a:solidFill>
                  <a:srgbClr val="7EE787"/>
                </a:solidFill>
                <a:latin typeface="Arial"/>
              </a:rPr>
              <a:t>Load balancing, proven</a:t>
            </a:r>
          </a:p>
        </p:txBody>
      </p:sp>
      <p:sp>
        <p:nvSpPr>
          <p:cNvPr id="10" name="TextBox 9"/>
          <p:cNvSpPr txBox="1"/>
          <p:nvPr/>
        </p:nvSpPr>
        <p:spPr>
          <a:xfrm>
            <a:off x="1078992" y="2852928"/>
            <a:ext cx="4654296" cy="749808"/>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E6EDF3"/>
                </a:solidFill>
                <a:latin typeface="Arial"/>
              </a:rPr>
              <a:t>Three instances, two AZs, roughly even share. Not a slide — live traffic.</a:t>
            </a:r>
          </a:p>
        </p:txBody>
      </p:sp>
      <p:sp>
        <p:nvSpPr>
          <p:cNvPr id="11" name="TextBox 10"/>
          <p:cNvSpPr txBox="1"/>
          <p:nvPr/>
        </p:nvSpPr>
        <p:spPr>
          <a:xfrm>
            <a:off x="658368" y="3602736"/>
            <a:ext cx="384048" cy="329184"/>
          </a:xfrm>
          <a:prstGeom prst="rect">
            <a:avLst/>
          </a:prstGeom>
          <a:noFill/>
        </p:spPr>
        <p:txBody>
          <a:bodyPr wrap="square" anchor="t" lIns="0" rIns="0" tIns="0" bIns="0">
            <a:spAutoFit/>
          </a:bodyPr>
          <a:lstStyle/>
          <a:p>
            <a:pPr algn="l">
              <a:spcBef>
                <a:spcPts val="0"/>
              </a:spcBef>
              <a:spcAft>
                <a:spcPts val="0"/>
              </a:spcAft>
            </a:pPr>
            <a:r>
              <a:rPr sz="1700" b="1" i="0">
                <a:solidFill>
                  <a:srgbClr val="58A6FF"/>
                </a:solidFill>
                <a:latin typeface="Arial"/>
              </a:rPr>
              <a:t>3</a:t>
            </a:r>
          </a:p>
        </p:txBody>
      </p:sp>
      <p:sp>
        <p:nvSpPr>
          <p:cNvPr id="12" name="TextBox 11"/>
          <p:cNvSpPr txBox="1"/>
          <p:nvPr/>
        </p:nvSpPr>
        <p:spPr>
          <a:xfrm>
            <a:off x="1078992" y="3584448"/>
            <a:ext cx="4654296" cy="310896"/>
          </a:xfrm>
          <a:prstGeom prst="rect">
            <a:avLst/>
          </a:prstGeom>
          <a:noFill/>
        </p:spPr>
        <p:txBody>
          <a:bodyPr wrap="square" anchor="t" lIns="0" rIns="0" tIns="0" bIns="0">
            <a:spAutoFit/>
          </a:bodyPr>
          <a:lstStyle/>
          <a:p>
            <a:pPr algn="l">
              <a:spcBef>
                <a:spcPts val="0"/>
              </a:spcBef>
              <a:spcAft>
                <a:spcPts val="0"/>
              </a:spcAft>
            </a:pPr>
            <a:r>
              <a:rPr sz="1700" b="1" i="0">
                <a:solidFill>
                  <a:srgbClr val="7EE787"/>
                </a:solidFill>
                <a:latin typeface="Arial"/>
              </a:rPr>
              <a:t>Kill an instance</a:t>
            </a:r>
          </a:p>
        </p:txBody>
      </p:sp>
      <p:sp>
        <p:nvSpPr>
          <p:cNvPr id="13" name="TextBox 12"/>
          <p:cNvSpPr txBox="1"/>
          <p:nvPr/>
        </p:nvSpPr>
        <p:spPr>
          <a:xfrm>
            <a:off x="1078992" y="3913632"/>
            <a:ext cx="4654296" cy="749808"/>
          </a:xfrm>
          <a:prstGeom prst="rect">
            <a:avLst/>
          </a:prstGeom>
          <a:noFill/>
        </p:spPr>
        <p:txBody>
          <a:bodyPr wrap="square" anchor="t" lIns="0" rIns="0" tIns="0" bIns="0">
            <a:spAutoFit/>
          </a:bodyPr>
          <a:lstStyle/>
          <a:p>
            <a:pPr algn="l">
              <a:lnSpc>
                <a:spcPct val="120000"/>
              </a:lnSpc>
              <a:spcBef>
                <a:spcPts val="0"/>
              </a:spcBef>
              <a:spcAft>
                <a:spcPts val="0"/>
              </a:spcAft>
            </a:pPr>
            <a:r>
              <a:rPr sz="1250" b="0" i="0">
                <a:solidFill>
                  <a:srgbClr val="7EE787"/>
                </a:solidFill>
                <a:latin typeface="Courier New"/>
              </a:rPr>
              <a:t>scripts/demo-failover.sh dev</a:t>
            </a:r>
            <a:r>
              <a:rPr sz="1350" b="0" i="0">
                <a:solidFill>
                  <a:srgbClr val="E6EDF3"/>
                </a:solidFill>
                <a:latin typeface="Arial"/>
              </a:rPr>
              <a:t> — a bar greys out, failures tick up, then a </a:t>
            </a:r>
            <a:r>
              <a:rPr sz="1350" b="1" i="0">
                <a:solidFill>
                  <a:srgbClr val="E6EDF3"/>
                </a:solidFill>
                <a:latin typeface="Arial"/>
              </a:rPr>
              <a:t>new</a:t>
            </a:r>
            <a:r>
              <a:rPr sz="1350" b="0" i="0">
                <a:solidFill>
                  <a:srgbClr val="E6EDF3"/>
                </a:solidFill>
                <a:latin typeface="Arial"/>
              </a:rPr>
              <a:t> instance ID appears.</a:t>
            </a:r>
          </a:p>
        </p:txBody>
      </p:sp>
      <p:sp>
        <p:nvSpPr>
          <p:cNvPr id="14" name="TextBox 13"/>
          <p:cNvSpPr txBox="1"/>
          <p:nvPr/>
        </p:nvSpPr>
        <p:spPr>
          <a:xfrm>
            <a:off x="658368" y="4663440"/>
            <a:ext cx="384048" cy="329184"/>
          </a:xfrm>
          <a:prstGeom prst="rect">
            <a:avLst/>
          </a:prstGeom>
          <a:noFill/>
        </p:spPr>
        <p:txBody>
          <a:bodyPr wrap="square" anchor="t" lIns="0" rIns="0" tIns="0" bIns="0">
            <a:spAutoFit/>
          </a:bodyPr>
          <a:lstStyle/>
          <a:p>
            <a:pPr algn="l">
              <a:spcBef>
                <a:spcPts val="0"/>
              </a:spcBef>
              <a:spcAft>
                <a:spcPts val="0"/>
              </a:spcAft>
            </a:pPr>
            <a:r>
              <a:rPr sz="1700" b="1" i="0">
                <a:solidFill>
                  <a:srgbClr val="58A6FF"/>
                </a:solidFill>
                <a:latin typeface="Arial"/>
              </a:rPr>
              <a:t>4</a:t>
            </a:r>
          </a:p>
        </p:txBody>
      </p:sp>
      <p:sp>
        <p:nvSpPr>
          <p:cNvPr id="15" name="TextBox 14"/>
          <p:cNvSpPr txBox="1"/>
          <p:nvPr/>
        </p:nvSpPr>
        <p:spPr>
          <a:xfrm>
            <a:off x="1078992" y="4645152"/>
            <a:ext cx="4654296" cy="310896"/>
          </a:xfrm>
          <a:prstGeom prst="rect">
            <a:avLst/>
          </a:prstGeom>
          <a:noFill/>
        </p:spPr>
        <p:txBody>
          <a:bodyPr wrap="square" anchor="t" lIns="0" rIns="0" tIns="0" bIns="0">
            <a:spAutoFit/>
          </a:bodyPr>
          <a:lstStyle/>
          <a:p>
            <a:pPr algn="l">
              <a:spcBef>
                <a:spcPts val="0"/>
              </a:spcBef>
              <a:spcAft>
                <a:spcPts val="0"/>
              </a:spcAft>
            </a:pPr>
            <a:r>
              <a:rPr sz="1700" b="1" i="0">
                <a:solidFill>
                  <a:srgbClr val="7EE787"/>
                </a:solidFill>
                <a:latin typeface="Arial"/>
              </a:rPr>
              <a:t>The dashboard</a:t>
            </a:r>
          </a:p>
        </p:txBody>
      </p:sp>
      <p:sp>
        <p:nvSpPr>
          <p:cNvPr id="16" name="TextBox 15"/>
          <p:cNvSpPr txBox="1"/>
          <p:nvPr/>
        </p:nvSpPr>
        <p:spPr>
          <a:xfrm>
            <a:off x="1078992" y="4974336"/>
            <a:ext cx="4654296" cy="749808"/>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E6EDF3"/>
                </a:solidFill>
                <a:latin typeface="Arial"/>
              </a:rPr>
              <a:t>Request rate, latency percentiles, target health, live error logs.</a:t>
            </a:r>
          </a:p>
        </p:txBody>
      </p:sp>
      <p:pic>
        <p:nvPicPr>
          <p:cNvPr id="17" name="Picture 16" descr="02-live-view.jpg"/>
          <p:cNvPicPr>
            <a:picLocks noChangeAspect="1"/>
          </p:cNvPicPr>
          <p:nvPr/>
        </p:nvPicPr>
        <p:blipFill>
          <a:blip r:embed="rId2"/>
          <a:stretch>
            <a:fillRect/>
          </a:stretch>
        </p:blipFill>
        <p:spPr>
          <a:xfrm>
            <a:off x="6053328" y="2338267"/>
            <a:ext cx="5479999" cy="249236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7 / 12</a:t>
            </a:r>
          </a:p>
        </p:txBody>
      </p:sp>
      <p:sp>
        <p:nvSpPr>
          <p:cNvPr id="3" name="TextBox 2"/>
          <p:cNvSpPr txBox="1"/>
          <p:nvPr/>
        </p:nvSpPr>
        <p:spPr>
          <a:xfrm>
            <a:off x="658368" y="685800"/>
            <a:ext cx="10874959" cy="457200"/>
          </a:xfrm>
          <a:prstGeom prst="rect">
            <a:avLst/>
          </a:prstGeom>
          <a:noFill/>
        </p:spPr>
        <p:txBody>
          <a:bodyPr wrap="square" anchor="t" lIns="0" rIns="0" tIns="0" bIns="0">
            <a:spAutoFit/>
          </a:bodyPr>
          <a:lstStyle/>
          <a:p>
            <a:pPr algn="l">
              <a:spcBef>
                <a:spcPts val="0"/>
              </a:spcBef>
              <a:spcAft>
                <a:spcPts val="0"/>
              </a:spcAft>
            </a:pPr>
            <a:r>
              <a:rPr sz="1300" b="1" i="0">
                <a:solidFill>
                  <a:srgbClr val="8B949E"/>
                </a:solidFill>
                <a:latin typeface="Arial"/>
              </a:rPr>
              <a:t>TECHNICAL DEEP DIVE</a:t>
            </a:r>
          </a:p>
        </p:txBody>
      </p:sp>
      <p:sp>
        <p:nvSpPr>
          <p:cNvPr id="4" name="Rectangle 3"/>
          <p:cNvSpPr/>
          <p:nvPr/>
        </p:nvSpPr>
        <p:spPr>
          <a:xfrm>
            <a:off x="658368" y="1188720"/>
            <a:ext cx="1463040" cy="28575"/>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74519"/>
            <a:ext cx="10874959" cy="868680"/>
          </a:xfrm>
          <a:prstGeom prst="rect">
            <a:avLst/>
          </a:prstGeom>
          <a:noFill/>
        </p:spPr>
        <p:txBody>
          <a:bodyPr wrap="square" anchor="t" lIns="0" rIns="0" tIns="0" bIns="0">
            <a:spAutoFit/>
          </a:bodyPr>
          <a:lstStyle/>
          <a:p>
            <a:pPr algn="l">
              <a:spcBef>
                <a:spcPts val="0"/>
              </a:spcBef>
              <a:spcAft>
                <a:spcPts val="0"/>
              </a:spcAft>
            </a:pPr>
            <a:r>
              <a:rPr sz="4600" b="1" i="0">
                <a:solidFill>
                  <a:srgbClr val="E6EDF3"/>
                </a:solidFill>
                <a:latin typeface="Arial"/>
              </a:rPr>
              <a:t>I claimed zero downtime.</a:t>
            </a:r>
          </a:p>
        </p:txBody>
      </p:sp>
      <p:sp>
        <p:nvSpPr>
          <p:cNvPr id="6" name="TextBox 5"/>
          <p:cNvSpPr txBox="1"/>
          <p:nvPr/>
        </p:nvSpPr>
        <p:spPr>
          <a:xfrm>
            <a:off x="658368" y="2807207"/>
            <a:ext cx="10874959" cy="868680"/>
          </a:xfrm>
          <a:prstGeom prst="rect">
            <a:avLst/>
          </a:prstGeom>
          <a:noFill/>
        </p:spPr>
        <p:txBody>
          <a:bodyPr wrap="square" anchor="t" lIns="0" rIns="0" tIns="0" bIns="0">
            <a:spAutoFit/>
          </a:bodyPr>
          <a:lstStyle/>
          <a:p>
            <a:pPr algn="l">
              <a:spcBef>
                <a:spcPts val="0"/>
              </a:spcBef>
              <a:spcAft>
                <a:spcPts val="0"/>
              </a:spcAft>
            </a:pPr>
            <a:r>
              <a:rPr sz="4600" b="1" i="0">
                <a:solidFill>
                  <a:srgbClr val="E6EDF3"/>
                </a:solidFill>
                <a:latin typeface="Arial"/>
              </a:rPr>
              <a:t>Then I measured it.</a:t>
            </a:r>
          </a:p>
        </p:txBody>
      </p:sp>
      <p:sp>
        <p:nvSpPr>
          <p:cNvPr id="7" name="Rectangle 6"/>
          <p:cNvSpPr/>
          <p:nvPr/>
        </p:nvSpPr>
        <p:spPr>
          <a:xfrm>
            <a:off x="658368" y="4069080"/>
            <a:ext cx="10874959" cy="141732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4297680"/>
            <a:ext cx="10289743" cy="1005840"/>
          </a:xfrm>
          <a:prstGeom prst="rect">
            <a:avLst/>
          </a:prstGeom>
          <a:noFill/>
        </p:spPr>
        <p:txBody>
          <a:bodyPr wrap="square" anchor="t" lIns="0" rIns="0" tIns="0" bIns="0">
            <a:spAutoFit/>
          </a:bodyPr>
          <a:lstStyle/>
          <a:p>
            <a:pPr algn="l">
              <a:lnSpc>
                <a:spcPct val="120000"/>
              </a:lnSpc>
              <a:spcBef>
                <a:spcPts val="0"/>
              </a:spcBef>
              <a:spcAft>
                <a:spcPts val="800"/>
              </a:spcAft>
            </a:pPr>
            <a:r>
              <a:rPr sz="1800" b="0" i="0">
                <a:solidFill>
                  <a:srgbClr val="E6EDF3"/>
                </a:solidFill>
                <a:latin typeface="Arial"/>
              </a:rPr>
              <a:t>The Auto Scaling group replaced the instance exactly as designed.</a:t>
            </a:r>
          </a:p>
          <a:p>
            <a:pPr algn="l">
              <a:lnSpc>
                <a:spcPct val="120000"/>
              </a:lnSpc>
              <a:spcBef>
                <a:spcPts val="0"/>
              </a:spcBef>
              <a:spcAft>
                <a:spcPts val="800"/>
              </a:spcAft>
            </a:pPr>
            <a:r>
              <a:rPr sz="1800" b="1" i="0">
                <a:solidFill>
                  <a:srgbClr val="E6EDF3"/>
                </a:solidFill>
                <a:latin typeface="Arial"/>
              </a:rPr>
              <a:t>Six requests returned 502 anyway.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Three measurements, not two</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8 / 12</a:t>
            </a:r>
          </a:p>
        </p:txBody>
      </p:sp>
      <p:sp>
        <p:nvSpPr>
          <p:cNvPr id="5" name="TextBox 4"/>
          <p:cNvSpPr txBox="1"/>
          <p:nvPr/>
        </p:nvSpPr>
        <p:spPr>
          <a:xfrm>
            <a:off x="658368" y="1481328"/>
            <a:ext cx="256032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HEALTH CHECK</a:t>
            </a:r>
          </a:p>
        </p:txBody>
      </p:sp>
      <p:sp>
        <p:nvSpPr>
          <p:cNvPr id="6" name="TextBox 5"/>
          <p:cNvSpPr txBox="1"/>
          <p:nvPr/>
        </p:nvSpPr>
        <p:spPr>
          <a:xfrm>
            <a:off x="3401568" y="1481328"/>
            <a:ext cx="292608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THEORETICAL WINDOW</a:t>
            </a:r>
          </a:p>
        </p:txBody>
      </p:sp>
      <p:sp>
        <p:nvSpPr>
          <p:cNvPr id="7" name="TextBox 6"/>
          <p:cNvSpPr txBox="1"/>
          <p:nvPr/>
        </p:nvSpPr>
        <p:spPr>
          <a:xfrm>
            <a:off x="6510528" y="1481328"/>
            <a:ext cx="246888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FAILED REQUESTS</a:t>
            </a:r>
          </a:p>
        </p:txBody>
      </p:sp>
      <p:sp>
        <p:nvSpPr>
          <p:cNvPr id="8" name="TextBox 7"/>
          <p:cNvSpPr txBox="1"/>
          <p:nvPr/>
        </p:nvSpPr>
        <p:spPr>
          <a:xfrm>
            <a:off x="9162288" y="1481328"/>
            <a:ext cx="210312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RECOVERY</a:t>
            </a:r>
          </a:p>
        </p:txBody>
      </p:sp>
      <p:sp>
        <p:nvSpPr>
          <p:cNvPr id="9" name="Rectangle 8"/>
          <p:cNvSpPr/>
          <p:nvPr/>
        </p:nvSpPr>
        <p:spPr>
          <a:xfrm>
            <a:off x="658368" y="181051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25603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15s × 3</a:t>
            </a:r>
          </a:p>
        </p:txBody>
      </p:sp>
      <p:sp>
        <p:nvSpPr>
          <p:cNvPr id="11" name="TextBox 10"/>
          <p:cNvSpPr txBox="1"/>
          <p:nvPr/>
        </p:nvSpPr>
        <p:spPr>
          <a:xfrm>
            <a:off x="3401568" y="1938528"/>
            <a:ext cx="292608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45s</a:t>
            </a:r>
          </a:p>
        </p:txBody>
      </p:sp>
      <p:sp>
        <p:nvSpPr>
          <p:cNvPr id="12" name="TextBox 11"/>
          <p:cNvSpPr txBox="1"/>
          <p:nvPr/>
        </p:nvSpPr>
        <p:spPr>
          <a:xfrm>
            <a:off x="6510528" y="1938528"/>
            <a:ext cx="246888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6</a:t>
            </a:r>
          </a:p>
        </p:txBody>
      </p:sp>
      <p:sp>
        <p:nvSpPr>
          <p:cNvPr id="13" name="TextBox 12"/>
          <p:cNvSpPr txBox="1"/>
          <p:nvPr/>
        </p:nvSpPr>
        <p:spPr>
          <a:xfrm>
            <a:off x="9162288" y="1938528"/>
            <a:ext cx="21031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171s</a:t>
            </a:r>
          </a:p>
        </p:txBody>
      </p:sp>
      <p:sp>
        <p:nvSpPr>
          <p:cNvPr id="14" name="Rectangle 13"/>
          <p:cNvSpPr/>
          <p:nvPr/>
        </p:nvSpPr>
        <p:spPr>
          <a:xfrm>
            <a:off x="658368" y="2350008"/>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432304"/>
            <a:ext cx="25603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10s × 2</a:t>
            </a:r>
          </a:p>
        </p:txBody>
      </p:sp>
      <p:sp>
        <p:nvSpPr>
          <p:cNvPr id="16" name="TextBox 15"/>
          <p:cNvSpPr txBox="1"/>
          <p:nvPr/>
        </p:nvSpPr>
        <p:spPr>
          <a:xfrm>
            <a:off x="3401568" y="2432304"/>
            <a:ext cx="292608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20s</a:t>
            </a:r>
          </a:p>
        </p:txBody>
      </p:sp>
      <p:sp>
        <p:nvSpPr>
          <p:cNvPr id="17" name="TextBox 16"/>
          <p:cNvSpPr txBox="1"/>
          <p:nvPr/>
        </p:nvSpPr>
        <p:spPr>
          <a:xfrm>
            <a:off x="6510528" y="2432304"/>
            <a:ext cx="246888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5</a:t>
            </a:r>
          </a:p>
        </p:txBody>
      </p:sp>
      <p:sp>
        <p:nvSpPr>
          <p:cNvPr id="18" name="TextBox 17"/>
          <p:cNvSpPr txBox="1"/>
          <p:nvPr/>
        </p:nvSpPr>
        <p:spPr>
          <a:xfrm>
            <a:off x="9162288" y="2432304"/>
            <a:ext cx="21031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195s</a:t>
            </a:r>
          </a:p>
        </p:txBody>
      </p:sp>
      <p:sp>
        <p:nvSpPr>
          <p:cNvPr id="19" name="Rectangle 18"/>
          <p:cNvSpPr/>
          <p:nvPr/>
        </p:nvSpPr>
        <p:spPr>
          <a:xfrm>
            <a:off x="658368" y="2843784"/>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926080"/>
            <a:ext cx="25603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5s × 2</a:t>
            </a:r>
          </a:p>
        </p:txBody>
      </p:sp>
      <p:sp>
        <p:nvSpPr>
          <p:cNvPr id="21" name="TextBox 20"/>
          <p:cNvSpPr txBox="1"/>
          <p:nvPr/>
        </p:nvSpPr>
        <p:spPr>
          <a:xfrm>
            <a:off x="3401568" y="2926080"/>
            <a:ext cx="292608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10s</a:t>
            </a:r>
          </a:p>
        </p:txBody>
      </p:sp>
      <p:sp>
        <p:nvSpPr>
          <p:cNvPr id="22" name="TextBox 21"/>
          <p:cNvSpPr txBox="1"/>
          <p:nvPr/>
        </p:nvSpPr>
        <p:spPr>
          <a:xfrm>
            <a:off x="6510528" y="2926080"/>
            <a:ext cx="246888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2</a:t>
            </a:r>
          </a:p>
        </p:txBody>
      </p:sp>
      <p:sp>
        <p:nvSpPr>
          <p:cNvPr id="23" name="TextBox 22"/>
          <p:cNvSpPr txBox="1"/>
          <p:nvPr/>
        </p:nvSpPr>
        <p:spPr>
          <a:xfrm>
            <a:off x="9162288" y="2926080"/>
            <a:ext cx="21031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99s</a:t>
            </a:r>
          </a:p>
        </p:txBody>
      </p:sp>
      <p:sp>
        <p:nvSpPr>
          <p:cNvPr id="24" name="Rectangle 23"/>
          <p:cNvSpPr/>
          <p:nvPr/>
        </p:nvSpPr>
        <p:spPr>
          <a:xfrm>
            <a:off x="658368" y="3337560"/>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3621024"/>
            <a:ext cx="10874959" cy="2798064"/>
          </a:xfrm>
          <a:prstGeom prst="rect">
            <a:avLst/>
          </a:prstGeom>
          <a:noFill/>
        </p:spPr>
        <p:txBody>
          <a:bodyPr wrap="square" anchor="t" lIns="0" rIns="0" tIns="0" bIns="0">
            <a:spAutoFit/>
          </a:bodyPr>
          <a:lstStyle/>
          <a:p>
            <a:pPr algn="l">
              <a:lnSpc>
                <a:spcPct val="118000"/>
              </a:lnSpc>
              <a:spcBef>
                <a:spcPts val="0"/>
              </a:spcBef>
              <a:spcAft>
                <a:spcPts val="800"/>
              </a:spcAft>
            </a:pPr>
            <a:r>
              <a:rPr sz="1400" b="0" i="0">
                <a:solidFill>
                  <a:srgbClr val="E6EDF3"/>
                </a:solidFill>
                <a:latin typeface="Arial"/>
              </a:rPr>
              <a:t>•  Halving the theoretical window removed exactly </a:t>
            </a:r>
            <a:r>
              <a:rPr sz="1400" b="1" i="0">
                <a:solidFill>
                  <a:srgbClr val="E6EDF3"/>
                </a:solidFill>
                <a:latin typeface="Arial"/>
              </a:rPr>
              <a:t>one</a:t>
            </a:r>
            <a:r>
              <a:rPr sz="1400" b="0" i="0">
                <a:solidFill>
                  <a:srgbClr val="E6EDF3"/>
                </a:solidFill>
                <a:latin typeface="Arial"/>
              </a:rPr>
              <a:t> request — which is what proved the window was an </a:t>
            </a:r>
            <a:r>
              <a:rPr sz="1400" b="1" i="0">
                <a:solidFill>
                  <a:srgbClr val="E6EDF3"/>
                </a:solidFill>
                <a:latin typeface="Arial"/>
              </a:rPr>
              <a:t>upper bound, not a prediction.</a:t>
            </a:r>
          </a:p>
          <a:p>
            <a:pPr algn="l">
              <a:lnSpc>
                <a:spcPct val="118000"/>
              </a:lnSpc>
              <a:spcBef>
                <a:spcPts val="0"/>
              </a:spcBef>
              <a:spcAft>
                <a:spcPts val="800"/>
              </a:spcAft>
            </a:pPr>
            <a:r>
              <a:rPr sz="1400" b="0" i="0">
                <a:solidFill>
                  <a:srgbClr val="E6EDF3"/>
                </a:solidFill>
                <a:latin typeface="Arial"/>
              </a:rPr>
              <a:t>•  That is why I pushed to the floor the ALB allows instead of stopping at a number that merely looked reasonable.</a:t>
            </a:r>
          </a:p>
          <a:p>
            <a:pPr>
              <a:spcAft>
                <a:spcPts val="500"/>
              </a:spcAft>
            </a:pPr>
          </a:p>
          <a:p>
            <a:pPr algn="l">
              <a:lnSpc>
                <a:spcPct val="118000"/>
              </a:lnSpc>
              <a:spcBef>
                <a:spcPts val="0"/>
              </a:spcBef>
              <a:spcAft>
                <a:spcPts val="500"/>
              </a:spcAft>
            </a:pPr>
            <a:r>
              <a:rPr sz="1400" b="0" i="0">
                <a:solidFill>
                  <a:srgbClr val="7EE787"/>
                </a:solidFill>
                <a:latin typeface="Arial"/>
              </a:rPr>
              <a:t>Zero-downtime deployment: yes — connection draining handles it.</a:t>
            </a:r>
          </a:p>
          <a:p>
            <a:pPr algn="l">
              <a:lnSpc>
                <a:spcPct val="118000"/>
              </a:lnSpc>
              <a:spcBef>
                <a:spcPts val="0"/>
              </a:spcBef>
              <a:spcAft>
                <a:spcPts val="500"/>
              </a:spcAft>
            </a:pPr>
            <a:r>
              <a:rPr sz="1400" b="0" i="0">
                <a:solidFill>
                  <a:srgbClr val="FF7B72"/>
                </a:solidFill>
                <a:latin typeface="Arial"/>
              </a:rPr>
              <a:t>Zero-downtime instance failure: no — a ~10 second window remains, and cannot be removed.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Guardrails: automation that knows what 'normal' is</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9 / 12</a:t>
            </a:r>
          </a:p>
        </p:txBody>
      </p:sp>
      <p:sp>
        <p:nvSpPr>
          <p:cNvPr id="5" name="TextBox 4"/>
          <p:cNvSpPr txBox="1"/>
          <p:nvPr/>
        </p:nvSpPr>
        <p:spPr>
          <a:xfrm>
            <a:off x="658368" y="1481328"/>
            <a:ext cx="10874959" cy="4828032"/>
          </a:xfrm>
          <a:prstGeom prst="rect">
            <a:avLst/>
          </a:prstGeom>
          <a:noFill/>
        </p:spPr>
        <p:txBody>
          <a:bodyPr wrap="square" anchor="t" lIns="0" rIns="0" tIns="0" bIns="0">
            <a:spAutoFit/>
          </a:bodyPr>
          <a:lstStyle/>
          <a:p>
            <a:pPr algn="l">
              <a:lnSpc>
                <a:spcPct val="118000"/>
              </a:lnSpc>
              <a:spcBef>
                <a:spcPts val="800"/>
              </a:spcBef>
              <a:spcAft>
                <a:spcPts val="500"/>
              </a:spcAft>
            </a:pPr>
            <a:r>
              <a:rPr sz="1900" b="1" i="0">
                <a:solidFill>
                  <a:srgbClr val="7EE787"/>
                </a:solidFill>
                <a:latin typeface="Arial"/>
              </a:rPr>
              <a:t>Policy as code</a:t>
            </a:r>
          </a:p>
          <a:p>
            <a:pPr algn="l">
              <a:lnSpc>
                <a:spcPct val="118000"/>
              </a:lnSpc>
              <a:spcBef>
                <a:spcPts val="0"/>
              </a:spcBef>
              <a:spcAft>
                <a:spcPts val="800"/>
              </a:spcAft>
            </a:pPr>
            <a:r>
              <a:rPr sz="1600" b="0" i="0">
                <a:solidFill>
                  <a:srgbClr val="E6EDF3"/>
                </a:solidFill>
                <a:latin typeface="Arial"/>
              </a:rPr>
              <a:t>•  Six Rego policies gate every plan. </a:t>
            </a:r>
            <a:r>
              <a:rPr sz="1600" b="1" i="0">
                <a:solidFill>
                  <a:srgbClr val="E6EDF3"/>
                </a:solidFill>
                <a:latin typeface="Arial"/>
              </a:rPr>
              <a:t>26 unit tests</a:t>
            </a:r>
            <a:r>
              <a:rPr sz="1600" b="0" i="0">
                <a:solidFill>
                  <a:srgbClr val="E6EDF3"/>
                </a:solidFill>
                <a:latin typeface="Arial"/>
              </a:rPr>
              <a:t> check the policies themselves.</a:t>
            </a:r>
          </a:p>
          <a:p>
            <a:pPr algn="l">
              <a:lnSpc>
                <a:spcPct val="118000"/>
              </a:lnSpc>
              <a:spcBef>
                <a:spcPts val="0"/>
              </a:spcBef>
              <a:spcAft>
                <a:spcPts val="800"/>
              </a:spcAft>
            </a:pPr>
            <a:r>
              <a:rPr sz="1600" b="0" i="0">
                <a:solidFill>
                  <a:srgbClr val="E6EDF3"/>
                </a:solidFill>
                <a:latin typeface="Arial"/>
              </a:rPr>
              <a:t>•  Evaluated against </a:t>
            </a:r>
            <a:r>
              <a:rPr sz="1500" b="0" i="0">
                <a:solidFill>
                  <a:srgbClr val="7EE787"/>
                </a:solidFill>
                <a:latin typeface="Courier New"/>
              </a:rPr>
              <a:t>terraform show -json</a:t>
            </a:r>
            <a:r>
              <a:rPr sz="1600" b="0" i="0">
                <a:solidFill>
                  <a:srgbClr val="E6EDF3"/>
                </a:solidFill>
                <a:latin typeface="Arial"/>
              </a:rPr>
              <a:t> — </a:t>
            </a:r>
            <a:r>
              <a:rPr sz="1600" b="1" i="0">
                <a:solidFill>
                  <a:srgbClr val="E6EDF3"/>
                </a:solidFill>
                <a:latin typeface="Arial"/>
              </a:rPr>
              <a:t>not</a:t>
            </a:r>
            <a:r>
              <a:rPr sz="1600" b="0" i="0">
                <a:solidFill>
                  <a:srgbClr val="E6EDF3"/>
                </a:solidFill>
                <a:latin typeface="Arial"/>
              </a:rPr>
              <a:t> the HCL. The plan has variables resolved and modules expanded, so a policy cannot be defeated by a variable.</a:t>
            </a:r>
          </a:p>
          <a:p>
            <a:pPr algn="l">
              <a:lnSpc>
                <a:spcPct val="118000"/>
              </a:lnSpc>
              <a:spcBef>
                <a:spcPts val="0"/>
              </a:spcBef>
              <a:spcAft>
                <a:spcPts val="800"/>
              </a:spcAft>
            </a:pPr>
            <a:r>
              <a:rPr sz="1600" b="0" i="0">
                <a:solidFill>
                  <a:srgbClr val="E6EDF3"/>
                </a:solidFill>
                <a:latin typeface="Arial"/>
              </a:rPr>
              <a:t>•  </a:t>
            </a:r>
            <a:r>
              <a:rPr sz="1500" b="0" i="0">
                <a:solidFill>
                  <a:srgbClr val="7EE787"/>
                </a:solidFill>
                <a:latin typeface="Courier New"/>
              </a:rPr>
              <a:t>availability.rego</a:t>
            </a:r>
            <a:r>
              <a:rPr sz="1600" b="0" i="0">
                <a:solidFill>
                  <a:srgbClr val="E6EDF3"/>
                </a:solidFill>
                <a:latin typeface="Arial"/>
              </a:rPr>
              <a:t> fails the build if </a:t>
            </a:r>
            <a:r>
              <a:rPr sz="1500" b="0" i="0">
                <a:solidFill>
                  <a:srgbClr val="7EE787"/>
                </a:solidFill>
                <a:latin typeface="Courier New"/>
              </a:rPr>
              <a:t>min_size</a:t>
            </a:r>
            <a:r>
              <a:rPr sz="1600" b="0" i="0">
                <a:solidFill>
                  <a:srgbClr val="E6EDF3"/>
                </a:solidFill>
                <a:latin typeface="Arial"/>
              </a:rPr>
              <a:t> &lt; 3 or the group spans &lt; 2 AZs — the project's own HA requirement, enforced as a test rather than written in a README where nothing checks it.</a:t>
            </a:r>
          </a:p>
          <a:p>
            <a:pPr>
              <a:spcAft>
                <a:spcPts val="500"/>
              </a:spcAft>
            </a:pPr>
          </a:p>
          <a:p>
            <a:pPr algn="l">
              <a:lnSpc>
                <a:spcPct val="118000"/>
              </a:lnSpc>
              <a:spcBef>
                <a:spcPts val="800"/>
              </a:spcBef>
              <a:spcAft>
                <a:spcPts val="500"/>
              </a:spcAft>
            </a:pPr>
            <a:r>
              <a:rPr sz="1900" b="1" i="0">
                <a:solidFill>
                  <a:srgbClr val="7EE787"/>
                </a:solidFill>
                <a:latin typeface="Arial"/>
              </a:rPr>
              <a:t>Two guards the defaults got wrong</a:t>
            </a:r>
          </a:p>
          <a:p>
            <a:pPr algn="l">
              <a:lnSpc>
                <a:spcPct val="118000"/>
              </a:lnSpc>
              <a:spcBef>
                <a:spcPts val="0"/>
              </a:spcBef>
              <a:spcAft>
                <a:spcPts val="800"/>
              </a:spcAft>
            </a:pPr>
            <a:r>
              <a:rPr sz="1600" b="0" i="0">
                <a:solidFill>
                  <a:srgbClr val="E6EDF3"/>
                </a:solidFill>
                <a:latin typeface="Arial"/>
              </a:rPr>
              <a:t>•  </a:t>
            </a:r>
            <a:r>
              <a:rPr sz="1600" b="1" i="0">
                <a:solidFill>
                  <a:srgbClr val="E6EDF3"/>
                </a:solidFill>
                <a:latin typeface="Arial"/>
              </a:rPr>
              <a:t>Apply will not resurrect a torn-down environment.</a:t>
            </a:r>
            <a:r>
              <a:rPr sz="1600" b="0" i="0">
                <a:solidFill>
                  <a:srgbClr val="E6EDF3"/>
                </a:solidFill>
                <a:latin typeface="Arial"/>
              </a:rPr>
              <a:t> A merge updates a </a:t>
            </a:r>
            <a:r>
              <a:rPr sz="1600" b="0" i="1">
                <a:solidFill>
                  <a:srgbClr val="E6EDF3"/>
                </a:solidFill>
                <a:latin typeface="Arial"/>
              </a:rPr>
              <a:t>running</a:t>
            </a:r>
            <a:r>
              <a:rPr sz="1600" b="0" i="0">
                <a:solidFill>
                  <a:srgbClr val="E6EDF3"/>
                </a:solidFill>
                <a:latin typeface="Arial"/>
              </a:rPr>
              <a:t> environment; if it is down the workflow skips with an explanation. Otherwise ordinary GitOps silently starts the meter.</a:t>
            </a:r>
          </a:p>
          <a:p>
            <a:pPr algn="l">
              <a:lnSpc>
                <a:spcPct val="118000"/>
              </a:lnSpc>
              <a:spcBef>
                <a:spcPts val="0"/>
              </a:spcBef>
              <a:spcAft>
                <a:spcPts val="800"/>
              </a:spcAft>
            </a:pPr>
            <a:r>
              <a:rPr sz="1600" b="0" i="0">
                <a:solidFill>
                  <a:srgbClr val="E6EDF3"/>
                </a:solidFill>
                <a:latin typeface="Arial"/>
              </a:rPr>
              <a:t>•  </a:t>
            </a:r>
            <a:r>
              <a:rPr sz="1600" b="1" i="0">
                <a:solidFill>
                  <a:srgbClr val="E6EDF3"/>
                </a:solidFill>
                <a:latin typeface="Arial"/>
              </a:rPr>
              <a:t>Drift detection treats 'empty' as normal.</a:t>
            </a:r>
            <a:r>
              <a:rPr sz="1600" b="0" i="0">
                <a:solidFill>
                  <a:srgbClr val="E6EDF3"/>
                </a:solidFill>
                <a:latin typeface="Arial"/>
              </a:rPr>
              <a:t> No resources is this platform's resting state, not a finding — without that check it files a false issue every morning.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Security posture</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10 / 12</a:t>
            </a:r>
          </a:p>
        </p:txBody>
      </p:sp>
      <p:sp>
        <p:nvSpPr>
          <p:cNvPr id="5" name="TextBox 4"/>
          <p:cNvSpPr txBox="1"/>
          <p:nvPr/>
        </p:nvSpPr>
        <p:spPr>
          <a:xfrm>
            <a:off x="658368" y="1481328"/>
            <a:ext cx="438912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CONTROL</a:t>
            </a:r>
          </a:p>
        </p:txBody>
      </p:sp>
      <p:sp>
        <p:nvSpPr>
          <p:cNvPr id="6" name="TextBox 5"/>
          <p:cNvSpPr txBox="1"/>
          <p:nvPr/>
        </p:nvSpPr>
        <p:spPr>
          <a:xfrm>
            <a:off x="5230368" y="1481328"/>
            <a:ext cx="603504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STATUS</a:t>
            </a:r>
          </a:p>
        </p:txBody>
      </p:sp>
      <p:sp>
        <p:nvSpPr>
          <p:cNvPr id="7" name="Rectangle 6"/>
          <p:cNvSpPr/>
          <p:nvPr/>
        </p:nvSpPr>
        <p:spPr>
          <a:xfrm>
            <a:off x="658368" y="181051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38528"/>
            <a:ext cx="43891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AWS access keys</a:t>
            </a:r>
          </a:p>
        </p:txBody>
      </p:sp>
      <p:sp>
        <p:nvSpPr>
          <p:cNvPr id="9" name="TextBox 8"/>
          <p:cNvSpPr txBox="1"/>
          <p:nvPr/>
        </p:nvSpPr>
        <p:spPr>
          <a:xfrm>
            <a:off x="5230368" y="1938528"/>
            <a:ext cx="603504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None.</a:t>
            </a:r>
            <a:r>
              <a:rPr sz="1500" b="0" i="0">
                <a:solidFill>
                  <a:srgbClr val="E6EDF3"/>
                </a:solidFill>
                <a:latin typeface="Arial"/>
              </a:rPr>
              <a:t> OIDC for CI, instance profile for EC2</a:t>
            </a:r>
          </a:p>
        </p:txBody>
      </p:sp>
      <p:sp>
        <p:nvSpPr>
          <p:cNvPr id="10" name="Rectangle 9"/>
          <p:cNvSpPr/>
          <p:nvPr/>
        </p:nvSpPr>
        <p:spPr>
          <a:xfrm>
            <a:off x="658368" y="2350008"/>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432304"/>
            <a:ext cx="43891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SSH</a:t>
            </a:r>
          </a:p>
        </p:txBody>
      </p:sp>
      <p:sp>
        <p:nvSpPr>
          <p:cNvPr id="12" name="TextBox 11"/>
          <p:cNvSpPr txBox="1"/>
          <p:nvPr/>
        </p:nvSpPr>
        <p:spPr>
          <a:xfrm>
            <a:off x="5230368" y="2432304"/>
            <a:ext cx="6035040" cy="64008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None.</a:t>
            </a:r>
            <a:r>
              <a:rPr sz="1500" b="0" i="0">
                <a:solidFill>
                  <a:srgbClr val="E6EDF3"/>
                </a:solidFill>
                <a:latin typeface="Arial"/>
              </a:rPr>
              <a:t> No key pair, no port 22, no bastion — SSM only</a:t>
            </a:r>
          </a:p>
        </p:txBody>
      </p:sp>
      <p:sp>
        <p:nvSpPr>
          <p:cNvPr id="13" name="Rectangle 12"/>
          <p:cNvSpPr/>
          <p:nvPr/>
        </p:nvSpPr>
        <p:spPr>
          <a:xfrm>
            <a:off x="658368" y="3118104"/>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00400"/>
            <a:ext cx="43891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Public IPs on instances</a:t>
            </a:r>
          </a:p>
        </p:txBody>
      </p:sp>
      <p:sp>
        <p:nvSpPr>
          <p:cNvPr id="15" name="TextBox 14"/>
          <p:cNvSpPr txBox="1"/>
          <p:nvPr/>
        </p:nvSpPr>
        <p:spPr>
          <a:xfrm>
            <a:off x="5230368" y="3200400"/>
            <a:ext cx="603504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E6EDF3"/>
                </a:solidFill>
                <a:latin typeface="Arial"/>
              </a:rPr>
              <a:t>None.</a:t>
            </a:r>
            <a:r>
              <a:rPr sz="1500" b="0" i="0">
                <a:solidFill>
                  <a:srgbClr val="E6EDF3"/>
                </a:solidFill>
                <a:latin typeface="Arial"/>
              </a:rPr>
              <a:t> Asserted by Terratest against real AWS</a:t>
            </a:r>
          </a:p>
        </p:txBody>
      </p:sp>
      <p:sp>
        <p:nvSpPr>
          <p:cNvPr id="16" name="Rectangle 15"/>
          <p:cNvSpPr/>
          <p:nvPr/>
        </p:nvSpPr>
        <p:spPr>
          <a:xfrm>
            <a:off x="658368" y="3611880"/>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694176"/>
            <a:ext cx="43891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IMDS</a:t>
            </a:r>
          </a:p>
        </p:txBody>
      </p:sp>
      <p:sp>
        <p:nvSpPr>
          <p:cNvPr id="18" name="TextBox 17"/>
          <p:cNvSpPr txBox="1"/>
          <p:nvPr/>
        </p:nvSpPr>
        <p:spPr>
          <a:xfrm>
            <a:off x="5230368" y="3694176"/>
            <a:ext cx="6035040" cy="64008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v2 required, hop limit 1 — closes the SSRF credential path</a:t>
            </a:r>
          </a:p>
        </p:txBody>
      </p:sp>
      <p:sp>
        <p:nvSpPr>
          <p:cNvPr id="19" name="Rectangle 18"/>
          <p:cNvSpPr/>
          <p:nvPr/>
        </p:nvSpPr>
        <p:spPr>
          <a:xfrm>
            <a:off x="658368" y="4379976"/>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462272"/>
            <a:ext cx="438912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checkov</a:t>
            </a:r>
          </a:p>
        </p:txBody>
      </p:sp>
      <p:sp>
        <p:nvSpPr>
          <p:cNvPr id="21" name="TextBox 20"/>
          <p:cNvSpPr txBox="1"/>
          <p:nvPr/>
        </p:nvSpPr>
        <p:spPr>
          <a:xfrm>
            <a:off x="5230368" y="4462272"/>
            <a:ext cx="6035040" cy="36576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E6EDF3"/>
                </a:solidFill>
                <a:latin typeface="Arial"/>
              </a:rPr>
              <a:t>235 passed · </a:t>
            </a:r>
            <a:r>
              <a:rPr sz="1500" b="1" i="0">
                <a:solidFill>
                  <a:srgbClr val="E6EDF3"/>
                </a:solidFill>
                <a:latin typeface="Arial"/>
              </a:rPr>
              <a:t>0 failed</a:t>
            </a:r>
            <a:r>
              <a:rPr sz="1500" b="0" i="0">
                <a:solidFill>
                  <a:srgbClr val="E6EDF3"/>
                </a:solidFill>
                <a:latin typeface="Arial"/>
              </a:rPr>
              <a:t> · 33 justified inline</a:t>
            </a:r>
          </a:p>
        </p:txBody>
      </p:sp>
      <p:sp>
        <p:nvSpPr>
          <p:cNvPr id="22" name="Rectangle 21"/>
          <p:cNvSpPr/>
          <p:nvPr/>
        </p:nvSpPr>
        <p:spPr>
          <a:xfrm>
            <a:off x="658368" y="4873752"/>
            <a:ext cx="10874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5157216"/>
            <a:ext cx="10874959" cy="1261872"/>
          </a:xfrm>
          <a:prstGeom prst="rect">
            <a:avLst/>
          </a:prstGeom>
          <a:noFill/>
        </p:spPr>
        <p:txBody>
          <a:bodyPr wrap="square" anchor="t" lIns="0" rIns="0" tIns="0" bIns="0">
            <a:spAutoFit/>
          </a:bodyPr>
          <a:lstStyle/>
          <a:p>
            <a:pPr algn="l">
              <a:lnSpc>
                <a:spcPct val="118000"/>
              </a:lnSpc>
              <a:spcBef>
                <a:spcPts val="800"/>
              </a:spcBef>
              <a:spcAft>
                <a:spcPts val="500"/>
              </a:spcAft>
            </a:pPr>
            <a:r>
              <a:rPr sz="1700" b="1" i="0">
                <a:solidFill>
                  <a:srgbClr val="7EE787"/>
                </a:solidFill>
                <a:latin typeface="Arial"/>
              </a:rPr>
              <a:t>The finding I deliberately did not fix</a:t>
            </a:r>
          </a:p>
          <a:p>
            <a:pPr algn="l">
              <a:lnSpc>
                <a:spcPct val="118000"/>
              </a:lnSpc>
              <a:spcBef>
                <a:spcPts val="0"/>
              </a:spcBef>
              <a:spcAft>
                <a:spcPts val="800"/>
              </a:spcAft>
            </a:pPr>
            <a:r>
              <a:rPr sz="1400" b="0" i="0">
                <a:solidFill>
                  <a:srgbClr val="E6EDF3"/>
                </a:solidFill>
                <a:latin typeface="Arial"/>
              </a:rPr>
              <a:t>•  Enabling SNS encryption with the AWS-managed key would have </a:t>
            </a:r>
            <a:r>
              <a:rPr sz="1400" b="1" i="0">
                <a:solidFill>
                  <a:srgbClr val="E6EDF3"/>
                </a:solidFill>
                <a:latin typeface="Arial"/>
              </a:rPr>
              <a:t>silently broken alarm delivery</a:t>
            </a:r>
            <a:r>
              <a:rPr sz="1400" b="0" i="0">
                <a:solidFill>
                  <a:srgbClr val="E6EDF3"/>
                </a:solidFill>
                <a:latin typeface="Arial"/>
              </a:rPr>
              <a:t> — CloudWatch cannot use that key. The scanner goes green while the alerting path goes dark.</a:t>
            </a:r>
          </a:p>
          <a:p>
            <a:pPr algn="l">
              <a:lnSpc>
                <a:spcPct val="118000"/>
              </a:lnSpc>
              <a:spcBef>
                <a:spcPts val="0"/>
              </a:spcBef>
              <a:spcAft>
                <a:spcPts val="600"/>
              </a:spcAft>
            </a:pPr>
            <a:r>
              <a:rPr sz="1300" b="0" i="1">
                <a:solidFill>
                  <a:srgbClr val="8B949E"/>
                </a:solidFill>
                <a:latin typeface="Arial"/>
              </a:rPr>
              <a:t>A control that breaks what it protects is not a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Results</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11 / 12</a:t>
            </a:r>
          </a:p>
        </p:txBody>
      </p:sp>
      <p:sp>
        <p:nvSpPr>
          <p:cNvPr id="5" name="TextBox 4"/>
          <p:cNvSpPr txBox="1"/>
          <p:nvPr/>
        </p:nvSpPr>
        <p:spPr>
          <a:xfrm>
            <a:off x="658368" y="1481328"/>
            <a:ext cx="5074920"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COST</a:t>
            </a:r>
          </a:p>
        </p:txBody>
      </p:sp>
      <p:sp>
        <p:nvSpPr>
          <p:cNvPr id="6" name="TextBox 5"/>
          <p:cNvSpPr txBox="1"/>
          <p:nvPr/>
        </p:nvSpPr>
        <p:spPr>
          <a:xfrm>
            <a:off x="658368" y="1901952"/>
            <a:ext cx="3246120" cy="457200"/>
          </a:xfrm>
          <a:prstGeom prst="rect">
            <a:avLst/>
          </a:prstGeom>
          <a:noFill/>
        </p:spPr>
        <p:txBody>
          <a:bodyPr wrap="square" anchor="t" lIns="0" rIns="0" tIns="0" bIns="0">
            <a:spAutoFit/>
          </a:bodyPr>
          <a:lstStyle/>
          <a:p>
            <a:pPr algn="l">
              <a:lnSpc>
                <a:spcPct val="115000"/>
              </a:lnSpc>
              <a:spcBef>
                <a:spcPts val="0"/>
              </a:spcBef>
              <a:spcAft>
                <a:spcPts val="0"/>
              </a:spcAft>
            </a:pPr>
            <a:r>
              <a:rPr sz="1400" b="0" i="0">
                <a:solidFill>
                  <a:srgbClr val="8B949E"/>
                </a:solidFill>
                <a:latin typeface="Arial"/>
              </a:rPr>
              <a:t>Built the obvious way, always on</a:t>
            </a:r>
          </a:p>
        </p:txBody>
      </p:sp>
      <p:sp>
        <p:nvSpPr>
          <p:cNvPr id="7" name="TextBox 6"/>
          <p:cNvSpPr txBox="1"/>
          <p:nvPr/>
        </p:nvSpPr>
        <p:spPr>
          <a:xfrm>
            <a:off x="3904488" y="1865376"/>
            <a:ext cx="1828800" cy="411480"/>
          </a:xfrm>
          <a:prstGeom prst="rect">
            <a:avLst/>
          </a:prstGeom>
          <a:noFill/>
        </p:spPr>
        <p:txBody>
          <a:bodyPr wrap="square" anchor="t" lIns="0" rIns="0" tIns="0" bIns="0">
            <a:spAutoFit/>
          </a:bodyPr>
          <a:lstStyle/>
          <a:p>
            <a:pPr algn="r">
              <a:spcBef>
                <a:spcPts val="0"/>
              </a:spcBef>
              <a:spcAft>
                <a:spcPts val="0"/>
              </a:spcAft>
            </a:pPr>
            <a:r>
              <a:rPr sz="1700" b="1" i="0">
                <a:solidFill>
                  <a:srgbClr val="E6EDF3"/>
                </a:solidFill>
                <a:latin typeface="Arial"/>
              </a:rPr>
              <a:t>$127 / mo</a:t>
            </a:r>
          </a:p>
        </p:txBody>
      </p:sp>
      <p:sp>
        <p:nvSpPr>
          <p:cNvPr id="8" name="TextBox 7"/>
          <p:cNvSpPr txBox="1"/>
          <p:nvPr/>
        </p:nvSpPr>
        <p:spPr>
          <a:xfrm>
            <a:off x="658368" y="2542032"/>
            <a:ext cx="3246120" cy="457200"/>
          </a:xfrm>
          <a:prstGeom prst="rect">
            <a:avLst/>
          </a:prstGeom>
          <a:noFill/>
        </p:spPr>
        <p:txBody>
          <a:bodyPr wrap="square" anchor="t" lIns="0" rIns="0" tIns="0" bIns="0">
            <a:spAutoFit/>
          </a:bodyPr>
          <a:lstStyle/>
          <a:p>
            <a:pPr algn="l">
              <a:lnSpc>
                <a:spcPct val="115000"/>
              </a:lnSpc>
              <a:spcBef>
                <a:spcPts val="0"/>
              </a:spcBef>
              <a:spcAft>
                <a:spcPts val="0"/>
              </a:spcAft>
            </a:pPr>
            <a:r>
              <a:rPr sz="1400" b="0" i="0">
                <a:solidFill>
                  <a:srgbClr val="8B949E"/>
                </a:solidFill>
                <a:latin typeface="Arial"/>
              </a:rPr>
              <a:t>As designed, always on</a:t>
            </a:r>
          </a:p>
        </p:txBody>
      </p:sp>
      <p:sp>
        <p:nvSpPr>
          <p:cNvPr id="9" name="TextBox 8"/>
          <p:cNvSpPr txBox="1"/>
          <p:nvPr/>
        </p:nvSpPr>
        <p:spPr>
          <a:xfrm>
            <a:off x="3904488" y="2505456"/>
            <a:ext cx="1828800" cy="411480"/>
          </a:xfrm>
          <a:prstGeom prst="rect">
            <a:avLst/>
          </a:prstGeom>
          <a:noFill/>
        </p:spPr>
        <p:txBody>
          <a:bodyPr wrap="square" anchor="t" lIns="0" rIns="0" tIns="0" bIns="0">
            <a:spAutoFit/>
          </a:bodyPr>
          <a:lstStyle/>
          <a:p>
            <a:pPr algn="r">
              <a:spcBef>
                <a:spcPts val="0"/>
              </a:spcBef>
              <a:spcAft>
                <a:spcPts val="0"/>
              </a:spcAft>
            </a:pPr>
            <a:r>
              <a:rPr sz="1700" b="1" i="0">
                <a:solidFill>
                  <a:srgbClr val="E6EDF3"/>
                </a:solidFill>
                <a:latin typeface="Arial"/>
              </a:rPr>
              <a:t>$71 / mo</a:t>
            </a:r>
          </a:p>
        </p:txBody>
      </p:sp>
      <p:sp>
        <p:nvSpPr>
          <p:cNvPr id="10" name="TextBox 9"/>
          <p:cNvSpPr txBox="1"/>
          <p:nvPr/>
        </p:nvSpPr>
        <p:spPr>
          <a:xfrm>
            <a:off x="658368" y="3182112"/>
            <a:ext cx="3246120" cy="457200"/>
          </a:xfrm>
          <a:prstGeom prst="rect">
            <a:avLst/>
          </a:prstGeom>
          <a:noFill/>
        </p:spPr>
        <p:txBody>
          <a:bodyPr wrap="square" anchor="t" lIns="0" rIns="0" tIns="0" bIns="0">
            <a:spAutoFit/>
          </a:bodyPr>
          <a:lstStyle/>
          <a:p>
            <a:pPr algn="l">
              <a:lnSpc>
                <a:spcPct val="115000"/>
              </a:lnSpc>
              <a:spcBef>
                <a:spcPts val="0"/>
              </a:spcBef>
              <a:spcAft>
                <a:spcPts val="0"/>
              </a:spcAft>
            </a:pPr>
            <a:r>
              <a:rPr sz="1400" b="1" i="0">
                <a:solidFill>
                  <a:srgbClr val="E6EDF3"/>
                </a:solidFill>
                <a:latin typeface="Arial"/>
              </a:rPr>
              <a:t>As actually used</a:t>
            </a:r>
          </a:p>
        </p:txBody>
      </p:sp>
      <p:sp>
        <p:nvSpPr>
          <p:cNvPr id="11" name="TextBox 10"/>
          <p:cNvSpPr txBox="1"/>
          <p:nvPr/>
        </p:nvSpPr>
        <p:spPr>
          <a:xfrm>
            <a:off x="3904488" y="3145536"/>
            <a:ext cx="1828800" cy="411480"/>
          </a:xfrm>
          <a:prstGeom prst="rect">
            <a:avLst/>
          </a:prstGeom>
          <a:noFill/>
        </p:spPr>
        <p:txBody>
          <a:bodyPr wrap="square" anchor="t" lIns="0" rIns="0" tIns="0" bIns="0">
            <a:spAutoFit/>
          </a:bodyPr>
          <a:lstStyle/>
          <a:p>
            <a:pPr algn="r">
              <a:spcBef>
                <a:spcPts val="0"/>
              </a:spcBef>
              <a:spcAft>
                <a:spcPts val="0"/>
              </a:spcAft>
            </a:pPr>
            <a:r>
              <a:rPr sz="2100" b="1" i="0">
                <a:solidFill>
                  <a:srgbClr val="7EE787"/>
                </a:solidFill>
                <a:latin typeface="Arial"/>
              </a:rPr>
              <a:t>$13 / mo</a:t>
            </a:r>
          </a:p>
        </p:txBody>
      </p:sp>
      <p:sp>
        <p:nvSpPr>
          <p:cNvPr id="12" name="Rectangle 11"/>
          <p:cNvSpPr/>
          <p:nvPr/>
        </p:nvSpPr>
        <p:spPr>
          <a:xfrm>
            <a:off x="658368" y="3867912"/>
            <a:ext cx="5074920" cy="841248"/>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041648"/>
            <a:ext cx="5074920" cy="548640"/>
          </a:xfrm>
          <a:prstGeom prst="rect">
            <a:avLst/>
          </a:prstGeom>
          <a:noFill/>
        </p:spPr>
        <p:txBody>
          <a:bodyPr wrap="square" anchor="t" lIns="0" rIns="0" tIns="0" bIns="0">
            <a:spAutoFit/>
          </a:bodyPr>
          <a:lstStyle/>
          <a:p>
            <a:pPr algn="ctr">
              <a:spcBef>
                <a:spcPts val="0"/>
              </a:spcBef>
              <a:spcAft>
                <a:spcPts val="0"/>
              </a:spcAft>
            </a:pPr>
            <a:r>
              <a:rPr sz="3300" b="1" i="0">
                <a:solidFill>
                  <a:srgbClr val="7EE787"/>
                </a:solidFill>
                <a:latin typeface="Arial"/>
              </a:rPr>
              <a:t>90% reduction</a:t>
            </a:r>
          </a:p>
        </p:txBody>
      </p:sp>
      <p:sp>
        <p:nvSpPr>
          <p:cNvPr id="14" name="TextBox 13"/>
          <p:cNvSpPr txBox="1"/>
          <p:nvPr/>
        </p:nvSpPr>
        <p:spPr>
          <a:xfrm>
            <a:off x="658368" y="4873752"/>
            <a:ext cx="5074920" cy="1188720"/>
          </a:xfrm>
          <a:prstGeom prst="rect">
            <a:avLst/>
          </a:prstGeom>
          <a:noFill/>
        </p:spPr>
        <p:txBody>
          <a:bodyPr wrap="square" anchor="t" lIns="0" rIns="0" tIns="0" bIns="0">
            <a:spAutoFit/>
          </a:bodyPr>
          <a:lstStyle/>
          <a:p>
            <a:pPr algn="l">
              <a:lnSpc>
                <a:spcPct val="120000"/>
              </a:lnSpc>
              <a:spcBef>
                <a:spcPts val="0"/>
              </a:spcBef>
              <a:spcAft>
                <a:spcPts val="600"/>
              </a:spcAft>
            </a:pPr>
            <a:r>
              <a:rPr sz="1250" b="0" i="0">
                <a:solidFill>
                  <a:srgbClr val="8B949E"/>
                </a:solidFill>
                <a:latin typeface="Arial"/>
              </a:rPr>
              <a:t>Biggest lever: </a:t>
            </a:r>
            <a:r>
              <a:rPr sz="1250" b="1" i="0">
                <a:solidFill>
                  <a:srgbClr val="8B949E"/>
                </a:solidFill>
                <a:latin typeface="Arial"/>
              </a:rPr>
              <a:t>not running it when nobody is using it</a:t>
            </a:r>
            <a:r>
              <a:rPr sz="1250" b="0" i="0">
                <a:solidFill>
                  <a:srgbClr val="8B949E"/>
                </a:solidFill>
                <a:latin typeface="Arial"/>
              </a:rPr>
              <a:t> (−82%).</a:t>
            </a:r>
          </a:p>
          <a:p>
            <a:pPr algn="l">
              <a:lnSpc>
                <a:spcPct val="120000"/>
              </a:lnSpc>
              <a:spcBef>
                <a:spcPts val="0"/>
              </a:spcBef>
              <a:spcAft>
                <a:spcPts val="600"/>
              </a:spcAft>
            </a:pPr>
            <a:r>
              <a:rPr sz="1250" b="0" i="0">
                <a:solidFill>
                  <a:srgbClr val="8B949E"/>
                </a:solidFill>
                <a:latin typeface="Arial"/>
              </a:rPr>
              <a:t>NAT + load balancer cost </a:t>
            </a:r>
            <a:r>
              <a:rPr sz="1250" b="1" i="0">
                <a:solidFill>
                  <a:srgbClr val="8B949E"/>
                </a:solidFill>
                <a:latin typeface="Arial"/>
              </a:rPr>
              <a:t>$49</a:t>
            </a:r>
            <a:r>
              <a:rPr sz="1250" b="0" i="0">
                <a:solidFill>
                  <a:srgbClr val="8B949E"/>
                </a:solidFill>
                <a:latin typeface="Arial"/>
              </a:rPr>
              <a:t>; the three instances doing the actual work cost </a:t>
            </a:r>
            <a:r>
              <a:rPr sz="1250" b="1" i="0">
                <a:solidFill>
                  <a:srgbClr val="8B949E"/>
                </a:solidFill>
                <a:latin typeface="Arial"/>
              </a:rPr>
              <a:t>$18</a:t>
            </a:r>
            <a:r>
              <a:rPr sz="1250" b="0" i="0">
                <a:solidFill>
                  <a:srgbClr val="8B949E"/>
                </a:solidFill>
                <a:latin typeface="Arial"/>
              </a:rPr>
              <a:t>.</a:t>
            </a:r>
          </a:p>
        </p:txBody>
      </p:sp>
      <p:sp>
        <p:nvSpPr>
          <p:cNvPr id="15" name="TextBox 14"/>
          <p:cNvSpPr txBox="1"/>
          <p:nvPr/>
        </p:nvSpPr>
        <p:spPr>
          <a:xfrm>
            <a:off x="6373368" y="1481328"/>
            <a:ext cx="5159959" cy="310896"/>
          </a:xfrm>
          <a:prstGeom prst="rect">
            <a:avLst/>
          </a:prstGeom>
          <a:noFill/>
        </p:spPr>
        <p:txBody>
          <a:bodyPr wrap="square" anchor="t" lIns="0" rIns="0" tIns="0" bIns="0">
            <a:spAutoFit/>
          </a:bodyPr>
          <a:lstStyle/>
          <a:p>
            <a:pPr algn="l">
              <a:spcBef>
                <a:spcPts val="0"/>
              </a:spcBef>
              <a:spcAft>
                <a:spcPts val="0"/>
              </a:spcAft>
            </a:pPr>
            <a:r>
              <a:rPr sz="1150" b="1" i="0">
                <a:solidFill>
                  <a:srgbClr val="58A6FF"/>
                </a:solidFill>
                <a:latin typeface="Arial"/>
              </a:rPr>
              <a:t>VERIFICATION</a:t>
            </a:r>
          </a:p>
        </p:txBody>
      </p:sp>
      <p:sp>
        <p:nvSpPr>
          <p:cNvPr id="16" name="TextBox 15"/>
          <p:cNvSpPr txBox="1"/>
          <p:nvPr/>
        </p:nvSpPr>
        <p:spPr>
          <a:xfrm>
            <a:off x="6373368" y="1755648"/>
            <a:ext cx="5159959" cy="274320"/>
          </a:xfrm>
          <a:prstGeom prst="rect">
            <a:avLst/>
          </a:prstGeom>
          <a:noFill/>
        </p:spPr>
        <p:txBody>
          <a:bodyPr wrap="square" anchor="t" lIns="0" rIns="0" tIns="0" bIns="0">
            <a:spAutoFit/>
          </a:bodyPr>
          <a:lstStyle/>
          <a:p>
            <a:pPr algn="l">
              <a:spcBef>
                <a:spcPts val="0"/>
              </a:spcBef>
              <a:spcAft>
                <a:spcPts val="0"/>
              </a:spcAft>
            </a:pPr>
            <a:r>
              <a:rPr sz="1200" b="0" i="1">
                <a:solidFill>
                  <a:srgbClr val="8B949E"/>
                </a:solidFill>
                <a:latin typeface="Arial"/>
              </a:rPr>
              <a:t>Each one was run, not asserted.</a:t>
            </a:r>
          </a:p>
        </p:txBody>
      </p:sp>
      <p:sp>
        <p:nvSpPr>
          <p:cNvPr id="17" name="TextBox 16"/>
          <p:cNvSpPr txBox="1"/>
          <p:nvPr/>
        </p:nvSpPr>
        <p:spPr>
          <a:xfrm>
            <a:off x="6373368" y="2194560"/>
            <a:ext cx="3422599" cy="310896"/>
          </a:xfrm>
          <a:prstGeom prst="rect">
            <a:avLst/>
          </a:prstGeom>
          <a:noFill/>
        </p:spPr>
        <p:txBody>
          <a:bodyPr wrap="square" anchor="t" lIns="0" rIns="0" tIns="0" bIns="0">
            <a:spAutoFit/>
          </a:bodyPr>
          <a:lstStyle/>
          <a:p>
            <a:pPr algn="l">
              <a:spcBef>
                <a:spcPts val="0"/>
              </a:spcBef>
              <a:spcAft>
                <a:spcPts val="0"/>
              </a:spcAft>
            </a:pPr>
            <a:r>
              <a:rPr sz="1400" b="0" i="0">
                <a:solidFill>
                  <a:srgbClr val="E6EDF3"/>
                </a:solidFill>
                <a:latin typeface="Arial"/>
              </a:rPr>
              <a:t>OPA policy unit tests</a:t>
            </a:r>
          </a:p>
        </p:txBody>
      </p:sp>
      <p:sp>
        <p:nvSpPr>
          <p:cNvPr id="18" name="TextBox 17"/>
          <p:cNvSpPr txBox="1"/>
          <p:nvPr/>
        </p:nvSpPr>
        <p:spPr>
          <a:xfrm>
            <a:off x="9795967" y="2194560"/>
            <a:ext cx="1737360" cy="310896"/>
          </a:xfrm>
          <a:prstGeom prst="rect">
            <a:avLst/>
          </a:prstGeom>
          <a:noFill/>
        </p:spPr>
        <p:txBody>
          <a:bodyPr wrap="square" anchor="t" lIns="0" rIns="0" tIns="0" bIns="0">
            <a:spAutoFit/>
          </a:bodyPr>
          <a:lstStyle/>
          <a:p>
            <a:pPr algn="r">
              <a:spcBef>
                <a:spcPts val="0"/>
              </a:spcBef>
              <a:spcAft>
                <a:spcPts val="0"/>
              </a:spcAft>
            </a:pPr>
            <a:r>
              <a:rPr sz="1400" b="1" i="0">
                <a:solidFill>
                  <a:srgbClr val="7EE787"/>
                </a:solidFill>
                <a:latin typeface="Arial"/>
              </a:rPr>
              <a:t>26 / 26</a:t>
            </a:r>
          </a:p>
        </p:txBody>
      </p:sp>
      <p:sp>
        <p:nvSpPr>
          <p:cNvPr id="19" name="Rectangle 18"/>
          <p:cNvSpPr/>
          <p:nvPr/>
        </p:nvSpPr>
        <p:spPr>
          <a:xfrm>
            <a:off x="6373368" y="2514600"/>
            <a:ext cx="5159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2596896"/>
            <a:ext cx="3422599" cy="310896"/>
          </a:xfrm>
          <a:prstGeom prst="rect">
            <a:avLst/>
          </a:prstGeom>
          <a:noFill/>
        </p:spPr>
        <p:txBody>
          <a:bodyPr wrap="square" anchor="t" lIns="0" rIns="0" tIns="0" bIns="0">
            <a:spAutoFit/>
          </a:bodyPr>
          <a:lstStyle/>
          <a:p>
            <a:pPr algn="l">
              <a:spcBef>
                <a:spcPts val="0"/>
              </a:spcBef>
              <a:spcAft>
                <a:spcPts val="0"/>
              </a:spcAft>
            </a:pPr>
            <a:r>
              <a:rPr sz="1400" b="0" i="0">
                <a:solidFill>
                  <a:srgbClr val="E6EDF3"/>
                </a:solidFill>
                <a:latin typeface="Arial"/>
              </a:rPr>
              <a:t>Policy gate vs. real plan</a:t>
            </a:r>
          </a:p>
        </p:txBody>
      </p:sp>
      <p:sp>
        <p:nvSpPr>
          <p:cNvPr id="21" name="TextBox 20"/>
          <p:cNvSpPr txBox="1"/>
          <p:nvPr/>
        </p:nvSpPr>
        <p:spPr>
          <a:xfrm>
            <a:off x="9795967" y="2596896"/>
            <a:ext cx="1737360" cy="310896"/>
          </a:xfrm>
          <a:prstGeom prst="rect">
            <a:avLst/>
          </a:prstGeom>
          <a:noFill/>
        </p:spPr>
        <p:txBody>
          <a:bodyPr wrap="square" anchor="t" lIns="0" rIns="0" tIns="0" bIns="0">
            <a:spAutoFit/>
          </a:bodyPr>
          <a:lstStyle/>
          <a:p>
            <a:pPr algn="r">
              <a:spcBef>
                <a:spcPts val="0"/>
              </a:spcBef>
              <a:spcAft>
                <a:spcPts val="0"/>
              </a:spcAft>
            </a:pPr>
            <a:r>
              <a:rPr sz="1400" b="1" i="0">
                <a:solidFill>
                  <a:srgbClr val="7EE787"/>
                </a:solidFill>
                <a:latin typeface="Arial"/>
              </a:rPr>
              <a:t>0 violations</a:t>
            </a:r>
          </a:p>
        </p:txBody>
      </p:sp>
      <p:sp>
        <p:nvSpPr>
          <p:cNvPr id="22" name="Rectangle 21"/>
          <p:cNvSpPr/>
          <p:nvPr/>
        </p:nvSpPr>
        <p:spPr>
          <a:xfrm>
            <a:off x="6373368" y="2916936"/>
            <a:ext cx="5159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3368" y="2999232"/>
            <a:ext cx="3422599" cy="310896"/>
          </a:xfrm>
          <a:prstGeom prst="rect">
            <a:avLst/>
          </a:prstGeom>
          <a:noFill/>
        </p:spPr>
        <p:txBody>
          <a:bodyPr wrap="square" anchor="t" lIns="0" rIns="0" tIns="0" bIns="0">
            <a:spAutoFit/>
          </a:bodyPr>
          <a:lstStyle/>
          <a:p>
            <a:pPr algn="l">
              <a:spcBef>
                <a:spcPts val="0"/>
              </a:spcBef>
              <a:spcAft>
                <a:spcPts val="0"/>
              </a:spcAft>
            </a:pPr>
            <a:r>
              <a:rPr sz="1400" b="0" i="0">
                <a:solidFill>
                  <a:srgbClr val="E6EDF3"/>
                </a:solidFill>
                <a:latin typeface="Arial"/>
              </a:rPr>
              <a:t>checkov</a:t>
            </a:r>
          </a:p>
        </p:txBody>
      </p:sp>
      <p:sp>
        <p:nvSpPr>
          <p:cNvPr id="24" name="TextBox 23"/>
          <p:cNvSpPr txBox="1"/>
          <p:nvPr/>
        </p:nvSpPr>
        <p:spPr>
          <a:xfrm>
            <a:off x="9795967" y="2999232"/>
            <a:ext cx="1737360" cy="310896"/>
          </a:xfrm>
          <a:prstGeom prst="rect">
            <a:avLst/>
          </a:prstGeom>
          <a:noFill/>
        </p:spPr>
        <p:txBody>
          <a:bodyPr wrap="square" anchor="t" lIns="0" rIns="0" tIns="0" bIns="0">
            <a:spAutoFit/>
          </a:bodyPr>
          <a:lstStyle/>
          <a:p>
            <a:pPr algn="r">
              <a:spcBef>
                <a:spcPts val="0"/>
              </a:spcBef>
              <a:spcAft>
                <a:spcPts val="0"/>
              </a:spcAft>
            </a:pPr>
            <a:r>
              <a:rPr sz="1400" b="1" i="0">
                <a:solidFill>
                  <a:srgbClr val="7EE787"/>
                </a:solidFill>
                <a:latin typeface="Arial"/>
              </a:rPr>
              <a:t>235 passed, 0 failed</a:t>
            </a:r>
          </a:p>
        </p:txBody>
      </p:sp>
      <p:sp>
        <p:nvSpPr>
          <p:cNvPr id="25" name="Rectangle 24"/>
          <p:cNvSpPr/>
          <p:nvPr/>
        </p:nvSpPr>
        <p:spPr>
          <a:xfrm>
            <a:off x="6373368" y="3319272"/>
            <a:ext cx="5159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3368" y="3401568"/>
            <a:ext cx="3422599" cy="310896"/>
          </a:xfrm>
          <a:prstGeom prst="rect">
            <a:avLst/>
          </a:prstGeom>
          <a:noFill/>
        </p:spPr>
        <p:txBody>
          <a:bodyPr wrap="square" anchor="t" lIns="0" rIns="0" tIns="0" bIns="0">
            <a:spAutoFit/>
          </a:bodyPr>
          <a:lstStyle/>
          <a:p>
            <a:pPr algn="l">
              <a:spcBef>
                <a:spcPts val="0"/>
              </a:spcBef>
              <a:spcAft>
                <a:spcPts val="0"/>
              </a:spcAft>
            </a:pPr>
            <a:r>
              <a:rPr sz="1400" b="0" i="0">
                <a:solidFill>
                  <a:srgbClr val="E6EDF3"/>
                </a:solidFill>
                <a:latin typeface="Arial"/>
              </a:rPr>
              <a:t>tflint</a:t>
            </a:r>
          </a:p>
        </p:txBody>
      </p:sp>
      <p:sp>
        <p:nvSpPr>
          <p:cNvPr id="27" name="TextBox 26"/>
          <p:cNvSpPr txBox="1"/>
          <p:nvPr/>
        </p:nvSpPr>
        <p:spPr>
          <a:xfrm>
            <a:off x="9795967" y="3401568"/>
            <a:ext cx="1737360" cy="310896"/>
          </a:xfrm>
          <a:prstGeom prst="rect">
            <a:avLst/>
          </a:prstGeom>
          <a:noFill/>
        </p:spPr>
        <p:txBody>
          <a:bodyPr wrap="square" anchor="t" lIns="0" rIns="0" tIns="0" bIns="0">
            <a:spAutoFit/>
          </a:bodyPr>
          <a:lstStyle/>
          <a:p>
            <a:pPr algn="r">
              <a:spcBef>
                <a:spcPts val="0"/>
              </a:spcBef>
              <a:spcAft>
                <a:spcPts val="0"/>
              </a:spcAft>
            </a:pPr>
            <a:r>
              <a:rPr sz="1400" b="1" i="0">
                <a:solidFill>
                  <a:srgbClr val="7EE787"/>
                </a:solidFill>
                <a:latin typeface="Arial"/>
              </a:rPr>
              <a:t>clean, 7 directories</a:t>
            </a:r>
          </a:p>
        </p:txBody>
      </p:sp>
      <p:sp>
        <p:nvSpPr>
          <p:cNvPr id="28" name="Rectangle 27"/>
          <p:cNvSpPr/>
          <p:nvPr/>
        </p:nvSpPr>
        <p:spPr>
          <a:xfrm>
            <a:off x="6373368" y="3721608"/>
            <a:ext cx="5159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73368" y="3803904"/>
            <a:ext cx="3422599" cy="310896"/>
          </a:xfrm>
          <a:prstGeom prst="rect">
            <a:avLst/>
          </a:prstGeom>
          <a:noFill/>
        </p:spPr>
        <p:txBody>
          <a:bodyPr wrap="square" anchor="t" lIns="0" rIns="0" tIns="0" bIns="0">
            <a:spAutoFit/>
          </a:bodyPr>
          <a:lstStyle/>
          <a:p>
            <a:pPr algn="l">
              <a:spcBef>
                <a:spcPts val="0"/>
              </a:spcBef>
              <a:spcAft>
                <a:spcPts val="0"/>
              </a:spcAft>
            </a:pPr>
            <a:r>
              <a:rPr sz="1400" b="0" i="0">
                <a:solidFill>
                  <a:srgbClr val="E6EDF3"/>
                </a:solidFill>
                <a:latin typeface="Arial"/>
              </a:rPr>
              <a:t>Application tests</a:t>
            </a:r>
          </a:p>
        </p:txBody>
      </p:sp>
      <p:sp>
        <p:nvSpPr>
          <p:cNvPr id="30" name="TextBox 29"/>
          <p:cNvSpPr txBox="1"/>
          <p:nvPr/>
        </p:nvSpPr>
        <p:spPr>
          <a:xfrm>
            <a:off x="9795967" y="3803904"/>
            <a:ext cx="1737360" cy="310896"/>
          </a:xfrm>
          <a:prstGeom prst="rect">
            <a:avLst/>
          </a:prstGeom>
          <a:noFill/>
        </p:spPr>
        <p:txBody>
          <a:bodyPr wrap="square" anchor="t" lIns="0" rIns="0" tIns="0" bIns="0">
            <a:spAutoFit/>
          </a:bodyPr>
          <a:lstStyle/>
          <a:p>
            <a:pPr algn="r">
              <a:spcBef>
                <a:spcPts val="0"/>
              </a:spcBef>
              <a:spcAft>
                <a:spcPts val="0"/>
              </a:spcAft>
            </a:pPr>
            <a:r>
              <a:rPr sz="1400" b="1" i="0">
                <a:solidFill>
                  <a:srgbClr val="7EE787"/>
                </a:solidFill>
                <a:latin typeface="Arial"/>
              </a:rPr>
              <a:t>14 / 14</a:t>
            </a:r>
          </a:p>
        </p:txBody>
      </p:sp>
      <p:sp>
        <p:nvSpPr>
          <p:cNvPr id="31" name="Rectangle 30"/>
          <p:cNvSpPr/>
          <p:nvPr/>
        </p:nvSpPr>
        <p:spPr>
          <a:xfrm>
            <a:off x="6373368" y="4123944"/>
            <a:ext cx="5159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3368" y="4206240"/>
            <a:ext cx="3422599" cy="310896"/>
          </a:xfrm>
          <a:prstGeom prst="rect">
            <a:avLst/>
          </a:prstGeom>
          <a:noFill/>
        </p:spPr>
        <p:txBody>
          <a:bodyPr wrap="square" anchor="t" lIns="0" rIns="0" tIns="0" bIns="0">
            <a:spAutoFit/>
          </a:bodyPr>
          <a:lstStyle/>
          <a:p>
            <a:pPr algn="l">
              <a:spcBef>
                <a:spcPts val="0"/>
              </a:spcBef>
              <a:spcAft>
                <a:spcPts val="0"/>
              </a:spcAft>
            </a:pPr>
            <a:r>
              <a:rPr sz="1400" b="0" i="0">
                <a:solidFill>
                  <a:srgbClr val="E6EDF3"/>
                </a:solidFill>
                <a:latin typeface="Arial"/>
              </a:rPr>
              <a:t>Failover</a:t>
            </a:r>
          </a:p>
        </p:txBody>
      </p:sp>
      <p:sp>
        <p:nvSpPr>
          <p:cNvPr id="33" name="TextBox 32"/>
          <p:cNvSpPr txBox="1"/>
          <p:nvPr/>
        </p:nvSpPr>
        <p:spPr>
          <a:xfrm>
            <a:off x="9795967" y="4206240"/>
            <a:ext cx="1737360" cy="310896"/>
          </a:xfrm>
          <a:prstGeom prst="rect">
            <a:avLst/>
          </a:prstGeom>
          <a:noFill/>
        </p:spPr>
        <p:txBody>
          <a:bodyPr wrap="square" anchor="t" lIns="0" rIns="0" tIns="0" bIns="0">
            <a:spAutoFit/>
          </a:bodyPr>
          <a:lstStyle/>
          <a:p>
            <a:pPr algn="r">
              <a:spcBef>
                <a:spcPts val="0"/>
              </a:spcBef>
              <a:spcAft>
                <a:spcPts val="0"/>
              </a:spcAft>
            </a:pPr>
            <a:r>
              <a:rPr sz="1400" b="1" i="0">
                <a:solidFill>
                  <a:srgbClr val="7EE787"/>
                </a:solidFill>
                <a:latin typeface="Arial"/>
              </a:rPr>
              <a:t>measured 3×</a:t>
            </a:r>
          </a:p>
        </p:txBody>
      </p:sp>
      <p:sp>
        <p:nvSpPr>
          <p:cNvPr id="34" name="Rectangle 33"/>
          <p:cNvSpPr/>
          <p:nvPr/>
        </p:nvSpPr>
        <p:spPr>
          <a:xfrm>
            <a:off x="6373368" y="4526280"/>
            <a:ext cx="5159959"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658368" y="475488"/>
            <a:ext cx="10874959" cy="685800"/>
          </a:xfrm>
          <a:prstGeom prst="rect">
            <a:avLst/>
          </a:prstGeom>
          <a:noFill/>
        </p:spPr>
        <p:txBody>
          <a:bodyPr wrap="square" anchor="t" lIns="0" rIns="0" tIns="0" bIns="0">
            <a:spAutoFit/>
          </a:bodyPr>
          <a:lstStyle/>
          <a:p>
            <a:pPr algn="l">
              <a:spcBef>
                <a:spcPts val="0"/>
              </a:spcBef>
              <a:spcAft>
                <a:spcPts val="0"/>
              </a:spcAft>
            </a:pPr>
            <a:r>
              <a:rPr sz="3000" b="1" i="0">
                <a:solidFill>
                  <a:srgbClr val="58A6FF"/>
                </a:solidFill>
                <a:latin typeface="Arial"/>
              </a:rPr>
              <a:t>What I would do differently</a:t>
            </a:r>
          </a:p>
        </p:txBody>
      </p:sp>
      <p:sp>
        <p:nvSpPr>
          <p:cNvPr id="3" name="Rectangle 2"/>
          <p:cNvSpPr/>
          <p:nvPr/>
        </p:nvSpPr>
        <p:spPr>
          <a:xfrm>
            <a:off x="658368" y="1216152"/>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36047" y="6291072"/>
            <a:ext cx="1097280" cy="274320"/>
          </a:xfrm>
          <a:prstGeom prst="rect">
            <a:avLst/>
          </a:prstGeom>
          <a:noFill/>
        </p:spPr>
        <p:txBody>
          <a:bodyPr wrap="square" anchor="t" lIns="0" rIns="0" tIns="0" bIns="0">
            <a:spAutoFit/>
          </a:bodyPr>
          <a:lstStyle/>
          <a:p>
            <a:pPr algn="r">
              <a:spcBef>
                <a:spcPts val="0"/>
              </a:spcBef>
              <a:spcAft>
                <a:spcPts val="0"/>
              </a:spcAft>
            </a:pPr>
            <a:r>
              <a:rPr sz="1100" b="0" i="0">
                <a:solidFill>
                  <a:srgbClr val="30363D"/>
                </a:solidFill>
                <a:latin typeface="Arial"/>
              </a:rPr>
              <a:t>12 / 12</a:t>
            </a:r>
          </a:p>
        </p:txBody>
      </p:sp>
      <p:sp>
        <p:nvSpPr>
          <p:cNvPr id="5" name="Rectangle 4"/>
          <p:cNvSpPr/>
          <p:nvPr/>
        </p:nvSpPr>
        <p:spPr>
          <a:xfrm>
            <a:off x="658368" y="1563624"/>
            <a:ext cx="28575" cy="621792"/>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527048"/>
            <a:ext cx="10058400" cy="310896"/>
          </a:xfrm>
          <a:prstGeom prst="rect">
            <a:avLst/>
          </a:prstGeom>
          <a:noFill/>
        </p:spPr>
        <p:txBody>
          <a:bodyPr wrap="square" anchor="t" lIns="0" rIns="0" tIns="0" bIns="0">
            <a:spAutoFit/>
          </a:bodyPr>
          <a:lstStyle/>
          <a:p>
            <a:pPr algn="l">
              <a:spcBef>
                <a:spcPts val="0"/>
              </a:spcBef>
              <a:spcAft>
                <a:spcPts val="0"/>
              </a:spcAft>
            </a:pPr>
            <a:r>
              <a:rPr sz="1650" b="1" i="0">
                <a:solidFill>
                  <a:srgbClr val="7EE787"/>
                </a:solidFill>
                <a:latin typeface="Arial"/>
              </a:rPr>
              <a:t>Measure before documenting.</a:t>
            </a:r>
          </a:p>
        </p:txBody>
      </p:sp>
      <p:sp>
        <p:nvSpPr>
          <p:cNvPr id="7" name="TextBox 6"/>
          <p:cNvSpPr txBox="1"/>
          <p:nvPr/>
        </p:nvSpPr>
        <p:spPr>
          <a:xfrm>
            <a:off x="877824" y="1819656"/>
            <a:ext cx="10424160" cy="457200"/>
          </a:xfrm>
          <a:prstGeom prst="rect">
            <a:avLst/>
          </a:prstGeom>
          <a:noFill/>
        </p:spPr>
        <p:txBody>
          <a:bodyPr wrap="square" anchor="t" lIns="0" rIns="0" tIns="0" bIns="0">
            <a:spAutoFit/>
          </a:bodyPr>
          <a:lstStyle/>
          <a:p>
            <a:pPr algn="l">
              <a:lnSpc>
                <a:spcPct val="118000"/>
              </a:lnSpc>
              <a:spcBef>
                <a:spcPts val="0"/>
              </a:spcBef>
              <a:spcAft>
                <a:spcPts val="0"/>
              </a:spcAft>
            </a:pPr>
            <a:r>
              <a:rPr sz="1300" b="0" i="0">
                <a:solidFill>
                  <a:srgbClr val="E6EDF3"/>
                </a:solidFill>
                <a:latin typeface="Arial"/>
              </a:rPr>
              <a:t>I wrote the resilience claim before testing it, and had to correct it in public.</a:t>
            </a:r>
          </a:p>
        </p:txBody>
      </p:sp>
      <p:sp>
        <p:nvSpPr>
          <p:cNvPr id="8" name="Rectangle 7"/>
          <p:cNvSpPr/>
          <p:nvPr/>
        </p:nvSpPr>
        <p:spPr>
          <a:xfrm>
            <a:off x="658368" y="2496312"/>
            <a:ext cx="28575" cy="621792"/>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459736"/>
            <a:ext cx="10058400" cy="310896"/>
          </a:xfrm>
          <a:prstGeom prst="rect">
            <a:avLst/>
          </a:prstGeom>
          <a:noFill/>
        </p:spPr>
        <p:txBody>
          <a:bodyPr wrap="square" anchor="t" lIns="0" rIns="0" tIns="0" bIns="0">
            <a:spAutoFit/>
          </a:bodyPr>
          <a:lstStyle/>
          <a:p>
            <a:pPr algn="l">
              <a:spcBef>
                <a:spcPts val="0"/>
              </a:spcBef>
              <a:spcAft>
                <a:spcPts val="0"/>
              </a:spcAft>
            </a:pPr>
            <a:r>
              <a:rPr sz="1650" b="1" i="0">
                <a:solidFill>
                  <a:srgbClr val="7EE787"/>
                </a:solidFill>
                <a:latin typeface="Arial"/>
              </a:rPr>
              <a:t>Set up scanners on day one.</a:t>
            </a:r>
          </a:p>
        </p:txBody>
      </p:sp>
      <p:sp>
        <p:nvSpPr>
          <p:cNvPr id="10" name="TextBox 9"/>
          <p:cNvSpPr txBox="1"/>
          <p:nvPr/>
        </p:nvSpPr>
        <p:spPr>
          <a:xfrm>
            <a:off x="877824" y="2752344"/>
            <a:ext cx="10424160" cy="457200"/>
          </a:xfrm>
          <a:prstGeom prst="rect">
            <a:avLst/>
          </a:prstGeom>
          <a:noFill/>
        </p:spPr>
        <p:txBody>
          <a:bodyPr wrap="square" anchor="t" lIns="0" rIns="0" tIns="0" bIns="0">
            <a:spAutoFit/>
          </a:bodyPr>
          <a:lstStyle/>
          <a:p>
            <a:pPr algn="l">
              <a:lnSpc>
                <a:spcPct val="118000"/>
              </a:lnSpc>
              <a:spcBef>
                <a:spcPts val="0"/>
              </a:spcBef>
              <a:spcAft>
                <a:spcPts val="0"/>
              </a:spcAft>
            </a:pPr>
            <a:r>
              <a:rPr sz="1300" b="0" i="0">
                <a:solidFill>
                  <a:srgbClr val="E6EDF3"/>
                </a:solidFill>
                <a:latin typeface="Arial"/>
              </a:rPr>
              <a:t>Retrofitting 33 justified suppressions was tedious. Early, they would have shaped the design instead of being reconciled with it.</a:t>
            </a:r>
          </a:p>
        </p:txBody>
      </p:sp>
      <p:sp>
        <p:nvSpPr>
          <p:cNvPr id="11" name="Rectangle 10"/>
          <p:cNvSpPr/>
          <p:nvPr/>
        </p:nvSpPr>
        <p:spPr>
          <a:xfrm>
            <a:off x="658368" y="3429000"/>
            <a:ext cx="28575" cy="621792"/>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3392424"/>
            <a:ext cx="10058400" cy="310896"/>
          </a:xfrm>
          <a:prstGeom prst="rect">
            <a:avLst/>
          </a:prstGeom>
          <a:noFill/>
        </p:spPr>
        <p:txBody>
          <a:bodyPr wrap="square" anchor="t" lIns="0" rIns="0" tIns="0" bIns="0">
            <a:spAutoFit/>
          </a:bodyPr>
          <a:lstStyle/>
          <a:p>
            <a:pPr algn="l">
              <a:spcBef>
                <a:spcPts val="0"/>
              </a:spcBef>
              <a:spcAft>
                <a:spcPts val="0"/>
              </a:spcAft>
            </a:pPr>
            <a:r>
              <a:rPr sz="1650" b="1" i="0">
                <a:solidFill>
                  <a:srgbClr val="7EE787"/>
                </a:solidFill>
                <a:latin typeface="Arial"/>
              </a:rPr>
              <a:t>Things that monitor an environment must not share its lifecycle.</a:t>
            </a:r>
          </a:p>
        </p:txBody>
      </p:sp>
      <p:sp>
        <p:nvSpPr>
          <p:cNvPr id="13" name="TextBox 12"/>
          <p:cNvSpPr txBox="1"/>
          <p:nvPr/>
        </p:nvSpPr>
        <p:spPr>
          <a:xfrm>
            <a:off x="877824" y="3685032"/>
            <a:ext cx="10424160" cy="457200"/>
          </a:xfrm>
          <a:prstGeom prst="rect">
            <a:avLst/>
          </a:prstGeom>
          <a:noFill/>
        </p:spPr>
        <p:txBody>
          <a:bodyPr wrap="square" anchor="t" lIns="0" rIns="0" tIns="0" bIns="0">
            <a:spAutoFit/>
          </a:bodyPr>
          <a:lstStyle/>
          <a:p>
            <a:pPr algn="l">
              <a:lnSpc>
                <a:spcPct val="118000"/>
              </a:lnSpc>
              <a:spcBef>
                <a:spcPts val="0"/>
              </a:spcBef>
              <a:spcAft>
                <a:spcPts val="0"/>
              </a:spcAft>
            </a:pPr>
            <a:r>
              <a:rPr sz="1300" b="0" i="0">
                <a:solidFill>
                  <a:srgbClr val="E6EDF3"/>
                </a:solidFill>
                <a:latin typeface="Arial"/>
              </a:rPr>
              <a:t>I put the SNS topic inside the environment. Every teardown produced a fresh unconfirmed subscription — an alert channel that needs re-arming every deploy is one that gets ignored.</a:t>
            </a:r>
          </a:p>
        </p:txBody>
      </p:sp>
      <p:sp>
        <p:nvSpPr>
          <p:cNvPr id="14" name="Rectangle 13"/>
          <p:cNvSpPr/>
          <p:nvPr/>
        </p:nvSpPr>
        <p:spPr>
          <a:xfrm>
            <a:off x="658368" y="4361688"/>
            <a:ext cx="28575" cy="621792"/>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4325112"/>
            <a:ext cx="10058400" cy="310896"/>
          </a:xfrm>
          <a:prstGeom prst="rect">
            <a:avLst/>
          </a:prstGeom>
          <a:noFill/>
        </p:spPr>
        <p:txBody>
          <a:bodyPr wrap="square" anchor="t" lIns="0" rIns="0" tIns="0" bIns="0">
            <a:spAutoFit/>
          </a:bodyPr>
          <a:lstStyle/>
          <a:p>
            <a:pPr algn="l">
              <a:spcBef>
                <a:spcPts val="0"/>
              </a:spcBef>
              <a:spcAft>
                <a:spcPts val="0"/>
              </a:spcAft>
            </a:pPr>
            <a:r>
              <a:rPr sz="1650" b="1" i="0">
                <a:solidFill>
                  <a:srgbClr val="7EE787"/>
                </a:solidFill>
                <a:latin typeface="Arial"/>
              </a:rPr>
              <a:t>Budgets are hard limits, so find them at plan time.</a:t>
            </a:r>
          </a:p>
        </p:txBody>
      </p:sp>
      <p:sp>
        <p:nvSpPr>
          <p:cNvPr id="16" name="TextBox 15"/>
          <p:cNvSpPr txBox="1"/>
          <p:nvPr/>
        </p:nvSpPr>
        <p:spPr>
          <a:xfrm>
            <a:off x="877824" y="4617720"/>
            <a:ext cx="10424160" cy="457200"/>
          </a:xfrm>
          <a:prstGeom prst="rect">
            <a:avLst/>
          </a:prstGeom>
          <a:noFill/>
        </p:spPr>
        <p:txBody>
          <a:bodyPr wrap="square" anchor="t" lIns="0" rIns="0" tIns="0" bIns="0">
            <a:spAutoFit/>
          </a:bodyPr>
          <a:lstStyle/>
          <a:p>
            <a:pPr algn="l">
              <a:lnSpc>
                <a:spcPct val="118000"/>
              </a:lnSpc>
              <a:spcBef>
                <a:spcPts val="0"/>
              </a:spcBef>
              <a:spcAft>
                <a:spcPts val="0"/>
              </a:spcAft>
            </a:pPr>
            <a:r>
              <a:rPr sz="1300" b="0" i="0">
                <a:solidFill>
                  <a:srgbClr val="E6EDF3"/>
                </a:solidFill>
                <a:latin typeface="Arial"/>
              </a:rPr>
              <a:t>The app ships inside EC2 user data, capped at 16 KB. Growing a feature broke a deploy. The fix was a Terraform precondition that now fails the plan and names the file that outgrew it.</a:t>
            </a:r>
          </a:p>
        </p:txBody>
      </p:sp>
      <p:sp>
        <p:nvSpPr>
          <p:cNvPr id="17" name="Rectangle 16"/>
          <p:cNvSpPr/>
          <p:nvPr/>
        </p:nvSpPr>
        <p:spPr>
          <a:xfrm>
            <a:off x="658368" y="5760720"/>
            <a:ext cx="10874959"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61888"/>
            <a:ext cx="5486400" cy="457200"/>
          </a:xfrm>
          <a:prstGeom prst="rect">
            <a:avLst/>
          </a:prstGeom>
          <a:noFill/>
        </p:spPr>
        <p:txBody>
          <a:bodyPr wrap="square" anchor="t" lIns="0" rIns="0" tIns="0" bIns="0">
            <a:spAutoFit/>
          </a:bodyPr>
          <a:lstStyle/>
          <a:p>
            <a:pPr algn="l">
              <a:spcBef>
                <a:spcPts val="0"/>
              </a:spcBef>
              <a:spcAft>
                <a:spcPts val="0"/>
              </a:spcAft>
            </a:pPr>
            <a:r>
              <a:rPr sz="2100" b="1" i="0">
                <a:solidFill>
                  <a:srgbClr val="E6EDF3"/>
                </a:solidFill>
                <a:latin typeface="Arial"/>
              </a:rPr>
              <a:t>Thank you — questions?</a:t>
            </a:r>
          </a:p>
        </p:txBody>
      </p:sp>
      <p:sp>
        <p:nvSpPr>
          <p:cNvPr id="19" name="TextBox 18"/>
          <p:cNvSpPr txBox="1"/>
          <p:nvPr/>
        </p:nvSpPr>
        <p:spPr>
          <a:xfrm>
            <a:off x="6046927" y="6035040"/>
            <a:ext cx="5486400" cy="365760"/>
          </a:xfrm>
          <a:prstGeom prst="rect">
            <a:avLst/>
          </a:prstGeom>
          <a:noFill/>
        </p:spPr>
        <p:txBody>
          <a:bodyPr wrap="square" anchor="t" lIns="0" rIns="0" tIns="0" bIns="0">
            <a:spAutoFit/>
          </a:bodyPr>
          <a:lstStyle/>
          <a:p>
            <a:pPr algn="r">
              <a:spcBef>
                <a:spcPts val="0"/>
              </a:spcBef>
              <a:spcAft>
                <a:spcPts val="0"/>
              </a:spcAft>
            </a:pPr>
            <a:r>
              <a:rPr sz="1400" b="0" i="0">
                <a:solidFill>
                  <a:srgbClr val="8B949E"/>
                </a:solidFill>
                <a:latin typeface="Arial"/>
              </a:rPr>
              <a:t>github.com/Draian123/CapstoneProject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